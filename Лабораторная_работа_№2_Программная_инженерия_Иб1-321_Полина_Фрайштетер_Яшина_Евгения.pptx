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392" r:id="rId2"/>
    <p:sldId id="257" r:id="rId3"/>
    <p:sldId id="259" r:id="rId4"/>
    <p:sldId id="288" r:id="rId5"/>
    <p:sldId id="394" r:id="rId6"/>
    <p:sldId id="395" r:id="rId7"/>
    <p:sldId id="396" r:id="rId8"/>
    <p:sldId id="397" r:id="rId9"/>
    <p:sldId id="398" r:id="rId10"/>
    <p:sldId id="399" r:id="rId11"/>
    <p:sldId id="400" r:id="rId12"/>
    <p:sldId id="401" r:id="rId13"/>
    <p:sldId id="402" r:id="rId14"/>
    <p:sldId id="404" r:id="rId15"/>
    <p:sldId id="403" r:id="rId16"/>
    <p:sldId id="405" r:id="rId17"/>
    <p:sldId id="406" r:id="rId18"/>
    <p:sldId id="393" r:id="rId19"/>
  </p:sldIdLst>
  <p:sldSz cx="24384000" cy="13716000"/>
  <p:notesSz cx="9928225" cy="6797675"/>
  <p:defaultTextStyle>
    <a:defPPr marL="0" marR="0" indent="0" algn="l" defTabSz="914389"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195"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389"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584"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778"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5973"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167"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362"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556"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7835" userDrawn="1">
          <p15:clr>
            <a:srgbClr val="A4A3A4"/>
          </p15:clr>
        </p15:guide>
        <p15:guide id="2" orient="horz" pos="2029" userDrawn="1">
          <p15:clr>
            <a:srgbClr val="A4A3A4"/>
          </p15:clr>
        </p15:guide>
        <p15:guide id="3" pos="921" userDrawn="1">
          <p15:clr>
            <a:srgbClr val="A4A3A4"/>
          </p15:clr>
        </p15:guide>
        <p15:guide id="4" pos="14484" userDrawn="1">
          <p15:clr>
            <a:srgbClr val="A4A3A4"/>
          </p15:clr>
        </p15:guide>
        <p15:guide id="5" orient="horz" pos="7814" userDrawn="1">
          <p15:clr>
            <a:srgbClr val="A4A3A4"/>
          </p15:clr>
        </p15:guide>
        <p15:guide id="6" orient="horz" pos="7518" userDrawn="1">
          <p15:clr>
            <a:srgbClr val="A4A3A4"/>
          </p15:clr>
        </p15:guide>
        <p15:guide id="7" orient="horz" pos="6000" userDrawn="1">
          <p15:clr>
            <a:srgbClr val="A4A3A4"/>
          </p15:clr>
        </p15:guide>
        <p15:guide id="8" orient="horz" pos="5635" userDrawn="1">
          <p15:clr>
            <a:srgbClr val="A4A3A4"/>
          </p15:clr>
        </p15:guide>
        <p15:guide id="9" pos="5617" userDrawn="1">
          <p15:clr>
            <a:srgbClr val="A4A3A4"/>
          </p15:clr>
        </p15:guide>
        <p15:guide id="10" orient="horz" pos="3368" userDrawn="1">
          <p15:clr>
            <a:srgbClr val="A4A3A4"/>
          </p15:clr>
        </p15:guide>
        <p15:guide id="11" orient="horz" pos="2732" userDrawn="1">
          <p15:clr>
            <a:srgbClr val="A4A3A4"/>
          </p15:clr>
        </p15:guide>
        <p15:guide id="12" pos="2737" userDrawn="1">
          <p15:clr>
            <a:srgbClr val="A4A3A4"/>
          </p15:clr>
        </p15:guide>
        <p15:guide id="13" pos="3303" userDrawn="1">
          <p15:clr>
            <a:srgbClr val="A4A3A4"/>
          </p15:clr>
        </p15:guide>
        <p15:guide id="14" pos="1969" userDrawn="1">
          <p15:clr>
            <a:srgbClr val="A4A3A4"/>
          </p15:clr>
        </p15:guide>
        <p15:guide id="15" pos="6410" userDrawn="1">
          <p15:clr>
            <a:srgbClr val="A4A3A4"/>
          </p15:clr>
        </p15:guide>
        <p15:guide id="16" pos="8791" userDrawn="1">
          <p15:clr>
            <a:srgbClr val="A4A3A4"/>
          </p15:clr>
        </p15:guide>
        <p15:guide id="17" pos="14144" userDrawn="1">
          <p15:clr>
            <a:srgbClr val="A4A3A4"/>
          </p15:clr>
        </p15:guide>
        <p15:guide id="18" pos="9449" userDrawn="1">
          <p15:clr>
            <a:srgbClr val="A4A3A4"/>
          </p15:clr>
        </p15:guide>
        <p15:guide id="19" pos="9835" userDrawn="1">
          <p15:clr>
            <a:srgbClr val="A4A3A4"/>
          </p15:clr>
        </p15:guide>
        <p15:guide id="20" pos="11786" userDrawn="1">
          <p15:clr>
            <a:srgbClr val="A4A3A4"/>
          </p15:clr>
        </p15:guide>
        <p15:guide id="21" pos="12217" userDrawn="1">
          <p15:clr>
            <a:srgbClr val="A4A3A4"/>
          </p15:clr>
        </p15:guide>
        <p15:guide id="22" pos="8089" userDrawn="1">
          <p15:clr>
            <a:srgbClr val="A4A3A4"/>
          </p15:clr>
        </p15:guide>
        <p15:guide id="23" pos="4528" userDrawn="1">
          <p15:clr>
            <a:srgbClr val="A4A3A4"/>
          </p15:clr>
        </p15:guide>
        <p15:guide id="24" orient="horz" pos="2640" userDrawn="1">
          <p15:clr>
            <a:srgbClr val="A4A3A4"/>
          </p15:clr>
        </p15:guide>
        <p15:guide id="25" pos="72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пакин Михаил Александрович" initials="АМА" lastIdx="0" clrIdx="0">
    <p:extLst>
      <p:ext uri="{19B8F6BF-5375-455C-9EA6-DF929625EA0E}">
        <p15:presenceInfo xmlns:p15="http://schemas.microsoft.com/office/powerpoint/2012/main" userId="S-1-5-21-3840247747-1450702109-120892074-122389" providerId="AD"/>
      </p:ext>
    </p:extLst>
  </p:cmAuthor>
  <p:cmAuthor id="2" name="Светлана Корытова" initials="СК" lastIdx="2" clrIdx="1">
    <p:extLst>
      <p:ext uri="{19B8F6BF-5375-455C-9EA6-DF929625EA0E}">
        <p15:presenceInfo xmlns:p15="http://schemas.microsoft.com/office/powerpoint/2012/main" userId="174a7ca35980dd9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0F33"/>
    <a:srgbClr val="E63542"/>
    <a:srgbClr val="FF5F61"/>
    <a:srgbClr val="C81240"/>
    <a:srgbClr val="D3E0E4"/>
    <a:srgbClr val="5CA8D6"/>
    <a:srgbClr val="5BA7D5"/>
    <a:srgbClr val="171F29"/>
    <a:srgbClr val="002B5B"/>
    <a:srgbClr val="1B25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8"/>
    <p:restoredTop sz="91024" autoAdjust="0"/>
  </p:normalViewPr>
  <p:slideViewPr>
    <p:cSldViewPr snapToGrid="0" snapToObjects="1">
      <p:cViewPr varScale="1">
        <p:scale>
          <a:sx n="38" d="100"/>
          <a:sy n="38" d="100"/>
        </p:scale>
        <p:origin x="115" y="317"/>
      </p:cViewPr>
      <p:guideLst>
        <p:guide orient="horz" pos="7835"/>
        <p:guide orient="horz" pos="2029"/>
        <p:guide pos="921"/>
        <p:guide pos="14484"/>
        <p:guide orient="horz" pos="7814"/>
        <p:guide orient="horz" pos="7518"/>
        <p:guide orient="horz" pos="6000"/>
        <p:guide orient="horz" pos="5635"/>
        <p:guide pos="5617"/>
        <p:guide orient="horz" pos="3368"/>
        <p:guide orient="horz" pos="2732"/>
        <p:guide pos="2737"/>
        <p:guide pos="3303"/>
        <p:guide pos="1969"/>
        <p:guide pos="6410"/>
        <p:guide pos="8791"/>
        <p:guide pos="14144"/>
        <p:guide pos="9449"/>
        <p:guide pos="9835"/>
        <p:guide pos="11786"/>
        <p:guide pos="12217"/>
        <p:guide pos="8089"/>
        <p:guide pos="4528"/>
        <p:guide orient="horz" pos="2640"/>
        <p:guide pos="7226"/>
      </p:guideLst>
    </p:cSldViewPr>
  </p:slideViewPr>
  <p:notesTextViewPr>
    <p:cViewPr>
      <p:scale>
        <a:sx n="1" d="1"/>
        <a:sy n="1" d="1"/>
      </p:scale>
      <p:origin x="0" y="0"/>
    </p:cViewPr>
  </p:notesTextViewPr>
  <p:sorterViewPr>
    <p:cViewPr>
      <p:scale>
        <a:sx n="57" d="100"/>
        <a:sy n="57" d="100"/>
      </p:scale>
      <p:origin x="0" y="0"/>
    </p:cViewPr>
  </p:sorterViewPr>
  <p:notesViewPr>
    <p:cSldViewPr snapToGrid="0" snapToObjects="1">
      <p:cViewPr varScale="1">
        <p:scale>
          <a:sx n="87" d="100"/>
          <a:sy n="87" d="100"/>
        </p:scale>
        <p:origin x="1848"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642D926-E079-1C43-78F1-C2634BAE59F2}"/>
              </a:ext>
            </a:extLst>
          </p:cNvPr>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9A324DC4-BCC9-CDD3-B3AE-F0041C2F345A}"/>
              </a:ext>
            </a:extLst>
          </p:cNvPr>
          <p:cNvSpPr>
            <a:spLocks noGrp="1"/>
          </p:cNvSpPr>
          <p:nvPr>
            <p:ph type="dt" sz="quarter" idx="1"/>
          </p:nvPr>
        </p:nvSpPr>
        <p:spPr>
          <a:xfrm>
            <a:off x="5622925" y="0"/>
            <a:ext cx="4303713" cy="341313"/>
          </a:xfrm>
          <a:prstGeom prst="rect">
            <a:avLst/>
          </a:prstGeom>
        </p:spPr>
        <p:txBody>
          <a:bodyPr vert="horz" lIns="91440" tIns="45720" rIns="91440" bIns="45720" rtlCol="0"/>
          <a:lstStyle>
            <a:lvl1pPr algn="r">
              <a:defRPr sz="1200"/>
            </a:lvl1pPr>
          </a:lstStyle>
          <a:p>
            <a:fld id="{BF52F246-F73D-45E2-9F41-142DBE0880D0}" type="datetimeFigureOut">
              <a:rPr lang="ru-RU" smtClean="0"/>
              <a:pPr/>
              <a:t>25.02.2026</a:t>
            </a:fld>
            <a:endParaRPr lang="ru-RU"/>
          </a:p>
        </p:txBody>
      </p:sp>
      <p:sp>
        <p:nvSpPr>
          <p:cNvPr id="4" name="Нижний колонтитул 3">
            <a:extLst>
              <a:ext uri="{FF2B5EF4-FFF2-40B4-BE49-F238E27FC236}">
                <a16:creationId xmlns:a16="http://schemas.microsoft.com/office/drawing/2014/main" id="{EAFD7C1C-1BAD-BDAE-C016-EDBB1CE094D6}"/>
              </a:ext>
            </a:extLst>
          </p:cNvPr>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B634D5B6-F934-9ADB-FA66-ECC7AC603144}"/>
              </a:ext>
            </a:extLst>
          </p:cNvPr>
          <p:cNvSpPr>
            <a:spLocks noGrp="1"/>
          </p:cNvSpPr>
          <p:nvPr>
            <p:ph type="sldNum" sz="quarter" idx="3"/>
          </p:nvPr>
        </p:nvSpPr>
        <p:spPr>
          <a:xfrm>
            <a:off x="5622925" y="6456363"/>
            <a:ext cx="4303713" cy="341312"/>
          </a:xfrm>
          <a:prstGeom prst="rect">
            <a:avLst/>
          </a:prstGeom>
        </p:spPr>
        <p:txBody>
          <a:bodyPr vert="horz" lIns="91440" tIns="45720" rIns="91440" bIns="45720" rtlCol="0" anchor="b"/>
          <a:lstStyle>
            <a:lvl1pPr algn="r">
              <a:defRPr sz="1200"/>
            </a:lvl1pPr>
          </a:lstStyle>
          <a:p>
            <a:fld id="{108E11C1-83C5-430E-8196-D3A36C7AB2BA}" type="slidenum">
              <a:rPr lang="ru-RU" smtClean="0"/>
              <a:pPr/>
              <a:t>‹#›</a:t>
            </a:fld>
            <a:endParaRPr lang="ru-RU"/>
          </a:p>
        </p:txBody>
      </p:sp>
    </p:spTree>
    <p:extLst>
      <p:ext uri="{BB962C8B-B14F-4D97-AF65-F5344CB8AC3E}">
        <p14:creationId xmlns:p14="http://schemas.microsoft.com/office/powerpoint/2010/main" val="174095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2697163" y="509588"/>
            <a:ext cx="4533900" cy="2549525"/>
          </a:xfrm>
          <a:prstGeom prst="rect">
            <a:avLst/>
          </a:prstGeom>
        </p:spPr>
        <p:txBody>
          <a:bodyPr/>
          <a:lstStyle/>
          <a:p>
            <a:endParaRPr dirty="0"/>
          </a:p>
        </p:txBody>
      </p:sp>
      <p:sp>
        <p:nvSpPr>
          <p:cNvPr id="45" name="Shape 45"/>
          <p:cNvSpPr>
            <a:spLocks noGrp="1"/>
          </p:cNvSpPr>
          <p:nvPr>
            <p:ph type="body" sz="quarter" idx="1"/>
          </p:nvPr>
        </p:nvSpPr>
        <p:spPr>
          <a:xfrm>
            <a:off x="1323764" y="3228896"/>
            <a:ext cx="7280698" cy="3058954"/>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195" latinLnBrk="0">
      <a:lnSpc>
        <a:spcPct val="117999"/>
      </a:lnSpc>
      <a:defRPr sz="2200" b="1" i="0">
        <a:latin typeface="Arial" panose="020B0604020202020204" pitchFamily="34" charset="0"/>
        <a:ea typeface="Helvetica Neue"/>
        <a:cs typeface="Arial" panose="020B0604020202020204" pitchFamily="34" charset="0"/>
        <a:sym typeface="Helvetica Neue"/>
      </a:defRPr>
    </a:lvl1pPr>
    <a:lvl2pPr indent="228597" defTabSz="457195" latinLnBrk="0">
      <a:lnSpc>
        <a:spcPct val="117999"/>
      </a:lnSpc>
      <a:defRPr sz="2200">
        <a:latin typeface="Helvetica Neue"/>
        <a:ea typeface="Helvetica Neue"/>
        <a:cs typeface="Helvetica Neue"/>
        <a:sym typeface="Helvetica Neue"/>
      </a:defRPr>
    </a:lvl2pPr>
    <a:lvl3pPr indent="457195" defTabSz="457195" latinLnBrk="0">
      <a:lnSpc>
        <a:spcPct val="117999"/>
      </a:lnSpc>
      <a:defRPr sz="2200">
        <a:latin typeface="Helvetica Neue"/>
        <a:ea typeface="Helvetica Neue"/>
        <a:cs typeface="Helvetica Neue"/>
        <a:sym typeface="Helvetica Neue"/>
      </a:defRPr>
    </a:lvl3pPr>
    <a:lvl4pPr indent="685792" defTabSz="457195" latinLnBrk="0">
      <a:lnSpc>
        <a:spcPct val="117999"/>
      </a:lnSpc>
      <a:defRPr sz="2200">
        <a:latin typeface="Helvetica Neue"/>
        <a:ea typeface="Helvetica Neue"/>
        <a:cs typeface="Helvetica Neue"/>
        <a:sym typeface="Helvetica Neue"/>
      </a:defRPr>
    </a:lvl4pPr>
    <a:lvl5pPr indent="914389" defTabSz="457195" latinLnBrk="0">
      <a:lnSpc>
        <a:spcPct val="117999"/>
      </a:lnSpc>
      <a:defRPr sz="2200">
        <a:latin typeface="Helvetica Neue"/>
        <a:ea typeface="Helvetica Neue"/>
        <a:cs typeface="Helvetica Neue"/>
        <a:sym typeface="Helvetica Neue"/>
      </a:defRPr>
    </a:lvl5pPr>
    <a:lvl6pPr indent="1142986" defTabSz="457195" latinLnBrk="0">
      <a:lnSpc>
        <a:spcPct val="117999"/>
      </a:lnSpc>
      <a:defRPr sz="2200">
        <a:latin typeface="Helvetica Neue"/>
        <a:ea typeface="Helvetica Neue"/>
        <a:cs typeface="Helvetica Neue"/>
        <a:sym typeface="Helvetica Neue"/>
      </a:defRPr>
    </a:lvl6pPr>
    <a:lvl7pPr indent="1371584" defTabSz="457195" latinLnBrk="0">
      <a:lnSpc>
        <a:spcPct val="117999"/>
      </a:lnSpc>
      <a:defRPr sz="2200">
        <a:latin typeface="Helvetica Neue"/>
        <a:ea typeface="Helvetica Neue"/>
        <a:cs typeface="Helvetica Neue"/>
        <a:sym typeface="Helvetica Neue"/>
      </a:defRPr>
    </a:lvl7pPr>
    <a:lvl8pPr indent="1600181" defTabSz="457195" latinLnBrk="0">
      <a:lnSpc>
        <a:spcPct val="117999"/>
      </a:lnSpc>
      <a:defRPr sz="2200">
        <a:latin typeface="Helvetica Neue"/>
        <a:ea typeface="Helvetica Neue"/>
        <a:cs typeface="Helvetica Neue"/>
        <a:sym typeface="Helvetica Neue"/>
      </a:defRPr>
    </a:lvl8pPr>
    <a:lvl9pPr indent="1828778" defTabSz="457195"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bg>
      <p:bgPr>
        <a:solidFill>
          <a:schemeClr val="bg2"/>
        </a:solidFill>
        <a:effectLst/>
      </p:bgPr>
    </p:bg>
    <p:spTree>
      <p:nvGrpSpPr>
        <p:cNvPr id="1" name=""/>
        <p:cNvGrpSpPr/>
        <p:nvPr/>
      </p:nvGrpSpPr>
      <p:grpSpPr>
        <a:xfrm>
          <a:off x="0" y="0"/>
          <a:ext cx="0" cy="0"/>
          <a:chOff x="0" y="0"/>
          <a:chExt cx="0" cy="0"/>
        </a:xfrm>
      </p:grpSpPr>
      <p:sp>
        <p:nvSpPr>
          <p:cNvPr id="10" name="Circle">
            <a:extLst>
              <a:ext uri="{FF2B5EF4-FFF2-40B4-BE49-F238E27FC236}">
                <a16:creationId xmlns:a16="http://schemas.microsoft.com/office/drawing/2014/main" id="{F45B0D71-897C-4EB0-46E0-FB6CB6B7B520}"/>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4" name="TextBox 13">
            <a:extLst>
              <a:ext uri="{FF2B5EF4-FFF2-40B4-BE49-F238E27FC236}">
                <a16:creationId xmlns:a16="http://schemas.microsoft.com/office/drawing/2014/main" id="{8B6A0843-726A-3A59-EE52-9E2E5CFD50FB}"/>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x-none"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pPr marL="0" marR="0" indent="0" algn="ctr" defTabSz="825500" rtl="0" fontAlgn="auto" latinLnBrk="0" hangingPunct="0">
                <a:lnSpc>
                  <a:spcPct val="100000"/>
                </a:lnSpc>
                <a:spcBef>
                  <a:spcPts val="0"/>
                </a:spcBef>
                <a:spcAft>
                  <a:spcPts val="0"/>
                </a:spcAft>
                <a:buClrTx/>
                <a:buSzTx/>
                <a:buFontTx/>
                <a:buNone/>
                <a:tabLst/>
              </a:pPr>
              <a:t>‹#›</a:t>
            </a:fld>
            <a:endParaRPr kumimoji="0" lang="x-none"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6" name="Рисунок 5">
            <a:extLst>
              <a:ext uri="{FF2B5EF4-FFF2-40B4-BE49-F238E27FC236}">
                <a16:creationId xmlns:a16="http://schemas.microsoft.com/office/drawing/2014/main" id="{3902CFB0-D572-BEF3-4C22-35C7B16C92A2}"/>
              </a:ext>
            </a:extLst>
          </p:cNvPr>
          <p:cNvPicPr>
            <a:picLocks noChangeAspect="1"/>
          </p:cNvPicPr>
          <p:nvPr userDrawn="1"/>
        </p:nvPicPr>
        <p:blipFill>
          <a:blip r:embed="rId2" cstate="print">
            <a:extLst>
              <a:ext uri="{96DAC541-7B7A-43D3-8B79-37D633B846F1}">
                <asvg:svgBlip xmlns:asvg="http://schemas.microsoft.com/office/drawing/2016/SVG/main" r:embed="rId3"/>
              </a:ext>
            </a:extLst>
          </a:blip>
          <a:stretch>
            <a:fillRect/>
          </a:stretch>
        </p:blipFill>
        <p:spPr>
          <a:xfrm>
            <a:off x="20558759" y="742369"/>
            <a:ext cx="2688063" cy="1176028"/>
          </a:xfrm>
          <a:prstGeom prst="rect">
            <a:avLst/>
          </a:prstGeom>
        </p:spPr>
      </p:pic>
    </p:spTree>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0_Red">
    <p:bg>
      <p:bgPr>
        <a:solidFill>
          <a:schemeClr val="bg2"/>
        </a:solidFill>
        <a:effectLst/>
      </p:bgPr>
    </p:bg>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E11BFFA-23E6-49E3-A942-F58919D39390}"/>
              </a:ext>
            </a:extLst>
          </p:cNvPr>
          <p:cNvSpPr/>
          <p:nvPr userDrawn="1"/>
        </p:nvSpPr>
        <p:spPr>
          <a:xfrm>
            <a:off x="-8468" y="7426"/>
            <a:ext cx="24400935" cy="5337688"/>
          </a:xfrm>
          <a:prstGeom prst="rect">
            <a:avLst/>
          </a:prstGeom>
          <a:solidFill>
            <a:schemeClr val="accent2"/>
          </a:solidFill>
          <a:ln w="12700">
            <a:no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Circle">
            <a:extLst>
              <a:ext uri="{FF2B5EF4-FFF2-40B4-BE49-F238E27FC236}">
                <a16:creationId xmlns:a16="http://schemas.microsoft.com/office/drawing/2014/main" id="{C8EC8FE0-0138-72CC-F050-6504FAB4FA84}"/>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39DB37BF-5AF1-C89B-8019-3577DB4285F9}"/>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x-none"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pPr marL="0" marR="0" indent="0" algn="ctr" defTabSz="825500" rtl="0" fontAlgn="auto" latinLnBrk="0" hangingPunct="0">
                <a:lnSpc>
                  <a:spcPct val="100000"/>
                </a:lnSpc>
                <a:spcBef>
                  <a:spcPts val="0"/>
                </a:spcBef>
                <a:spcAft>
                  <a:spcPts val="0"/>
                </a:spcAft>
                <a:buClrTx/>
                <a:buSzTx/>
                <a:buFontTx/>
                <a:buNone/>
                <a:tabLst/>
              </a:pPr>
              <a:t>‹#›</a:t>
            </a:fld>
            <a:endParaRPr kumimoji="0" lang="x-none"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64C8EEEB-4815-E390-57A0-AE879E73A626}"/>
              </a:ext>
            </a:extLst>
          </p:cNvPr>
          <p:cNvPicPr>
            <a:picLocks noChangeAspect="1"/>
          </p:cNvPicPr>
          <p:nvPr userDrawn="1"/>
        </p:nvPicPr>
        <p:blipFill>
          <a:blip r:embed="rId2" cstate="print">
            <a:extLst>
              <a:ext uri="{96DAC541-7B7A-43D3-8B79-37D633B846F1}">
                <asvg:svgBlip xmlns:asvg="http://schemas.microsoft.com/office/drawing/2016/SVG/main" r:embed="rId3"/>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74579365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Subtitle + Photos">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5D3E87-3C0B-F341-A27B-E2D273F59996}"/>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8" name="Picture Placeholder 2">
            <a:extLst>
              <a:ext uri="{FF2B5EF4-FFF2-40B4-BE49-F238E27FC236}">
                <a16:creationId xmlns:a16="http://schemas.microsoft.com/office/drawing/2014/main" id="{5E391CB4-F622-EE43-B7C0-C3795A8A817F}"/>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9" name="Picture Placeholder 2">
            <a:extLst>
              <a:ext uri="{FF2B5EF4-FFF2-40B4-BE49-F238E27FC236}">
                <a16:creationId xmlns:a16="http://schemas.microsoft.com/office/drawing/2014/main" id="{8DCDBF16-3682-A242-9C9E-476989CD5EA2}"/>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0" name="Picture Placeholder 2">
            <a:extLst>
              <a:ext uri="{FF2B5EF4-FFF2-40B4-BE49-F238E27FC236}">
                <a16:creationId xmlns:a16="http://schemas.microsoft.com/office/drawing/2014/main" id="{3456F4FF-644F-E34F-AC43-D48D8A05DF1E}"/>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5" name="Picture Placeholder 2">
            <a:extLst>
              <a:ext uri="{FF2B5EF4-FFF2-40B4-BE49-F238E27FC236}">
                <a16:creationId xmlns:a16="http://schemas.microsoft.com/office/drawing/2014/main" id="{6E67A86B-D2D7-4448-8557-A3A39BC9F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6" name="Picture Placeholder 2">
            <a:extLst>
              <a:ext uri="{FF2B5EF4-FFF2-40B4-BE49-F238E27FC236}">
                <a16:creationId xmlns:a16="http://schemas.microsoft.com/office/drawing/2014/main" id="{13B8D20F-D046-D946-99FE-1E81A88B9B31}"/>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7" name="Picture Placeholder 2">
            <a:extLst>
              <a:ext uri="{FF2B5EF4-FFF2-40B4-BE49-F238E27FC236}">
                <a16:creationId xmlns:a16="http://schemas.microsoft.com/office/drawing/2014/main" id="{7C0CB0D5-2B46-DD4D-8C04-40F9D2008D42}"/>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8" name="Picture Placeholder 2">
            <a:extLst>
              <a:ext uri="{FF2B5EF4-FFF2-40B4-BE49-F238E27FC236}">
                <a16:creationId xmlns:a16="http://schemas.microsoft.com/office/drawing/2014/main" id="{15A5B861-B62C-8042-958E-38453E093450}"/>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9" name="Picture Placeholder 2">
            <a:extLst>
              <a:ext uri="{FF2B5EF4-FFF2-40B4-BE49-F238E27FC236}">
                <a16:creationId xmlns:a16="http://schemas.microsoft.com/office/drawing/2014/main" id="{4E68379E-C006-DE43-A791-6269DC771BBC}"/>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20" name="Picture Placeholder 2">
            <a:extLst>
              <a:ext uri="{FF2B5EF4-FFF2-40B4-BE49-F238E27FC236}">
                <a16:creationId xmlns:a16="http://schemas.microsoft.com/office/drawing/2014/main" id="{D2AFC5A0-9BEF-D44B-9C18-CB175E90F418}"/>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2" name="Circle">
            <a:extLst>
              <a:ext uri="{FF2B5EF4-FFF2-40B4-BE49-F238E27FC236}">
                <a16:creationId xmlns:a16="http://schemas.microsoft.com/office/drawing/2014/main" id="{1780EDDA-258C-931F-B0A1-E4E70C698017}"/>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TextBox 3">
            <a:extLst>
              <a:ext uri="{FF2B5EF4-FFF2-40B4-BE49-F238E27FC236}">
                <a16:creationId xmlns:a16="http://schemas.microsoft.com/office/drawing/2014/main" id="{45A778B2-1FAE-607E-FE4E-E79180AC544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x-none"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pPr marL="0" marR="0" indent="0" algn="ctr" defTabSz="825500" rtl="0" fontAlgn="auto" latinLnBrk="0" hangingPunct="0">
                <a:lnSpc>
                  <a:spcPct val="100000"/>
                </a:lnSpc>
                <a:spcBef>
                  <a:spcPts val="0"/>
                </a:spcBef>
                <a:spcAft>
                  <a:spcPts val="0"/>
                </a:spcAft>
                <a:buClrTx/>
                <a:buSzTx/>
                <a:buFontTx/>
                <a:buNone/>
                <a:tabLst/>
              </a:pPr>
              <a:t>‹#›</a:t>
            </a:fld>
            <a:endParaRPr kumimoji="0" lang="x-none"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C8077680-9992-7CA3-67D4-C26C007AC0BC}"/>
              </a:ext>
            </a:extLst>
          </p:cNvPr>
          <p:cNvPicPr>
            <a:picLocks noChangeAspect="1"/>
          </p:cNvPicPr>
          <p:nvPr userDrawn="1"/>
        </p:nvPicPr>
        <p:blipFill>
          <a:blip r:embed="rId2" cstate="print">
            <a:extLst>
              <a:ext uri="{96DAC541-7B7A-43D3-8B79-37D633B846F1}">
                <asvg:svgBlip xmlns:asvg="http://schemas.microsoft.com/office/drawing/2016/SVG/main" r:embed="rId3"/>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02101214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Subtitle (without header)">
    <p:bg>
      <p:bgPr>
        <a:solidFill>
          <a:schemeClr val="bg2"/>
        </a:solidFill>
        <a:effectLst/>
      </p:bgPr>
    </p:bg>
    <p:spTree>
      <p:nvGrpSpPr>
        <p:cNvPr id="1" name=""/>
        <p:cNvGrpSpPr/>
        <p:nvPr/>
      </p:nvGrpSpPr>
      <p:grpSpPr>
        <a:xfrm>
          <a:off x="0" y="0"/>
          <a:ext cx="0" cy="0"/>
          <a:chOff x="0" y="0"/>
          <a:chExt cx="0" cy="0"/>
        </a:xfrm>
      </p:grpSpPr>
      <p:sp>
        <p:nvSpPr>
          <p:cNvPr id="2" name="Circle">
            <a:extLst>
              <a:ext uri="{FF2B5EF4-FFF2-40B4-BE49-F238E27FC236}">
                <a16:creationId xmlns:a16="http://schemas.microsoft.com/office/drawing/2014/main" id="{43FBEB1F-7A76-9A45-261E-C90E40F044DB}"/>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79A3E8BA-B8F4-B639-5694-FC4340E808A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x-none"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pPr marL="0" marR="0" indent="0" algn="ctr" defTabSz="825500" rtl="0" fontAlgn="auto" latinLnBrk="0" hangingPunct="0">
                <a:lnSpc>
                  <a:spcPct val="100000"/>
                </a:lnSpc>
                <a:spcBef>
                  <a:spcPts val="0"/>
                </a:spcBef>
                <a:spcAft>
                  <a:spcPts val="0"/>
                </a:spcAft>
                <a:buClrTx/>
                <a:buSzTx/>
                <a:buFontTx/>
                <a:buNone/>
                <a:tabLst/>
              </a:pPr>
              <a:t>‹#›</a:t>
            </a:fld>
            <a:endParaRPr kumimoji="0" lang="x-none"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Subtitle (without header) + Photos">
    <p:bg>
      <p:bgPr>
        <a:solidFill>
          <a:schemeClr val="bg2"/>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FBAE1344-71FB-214A-985A-C79AE33BAD38}"/>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5" name="Picture Placeholder 2">
            <a:extLst>
              <a:ext uri="{FF2B5EF4-FFF2-40B4-BE49-F238E27FC236}">
                <a16:creationId xmlns:a16="http://schemas.microsoft.com/office/drawing/2014/main" id="{3FAF2F12-F6A2-F94B-94A1-8FC535902C7B}"/>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6" name="Picture Placeholder 2">
            <a:extLst>
              <a:ext uri="{FF2B5EF4-FFF2-40B4-BE49-F238E27FC236}">
                <a16:creationId xmlns:a16="http://schemas.microsoft.com/office/drawing/2014/main" id="{D2D72B2A-0AFA-E744-A788-3DBAB2334098}"/>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7" name="Picture Placeholder 2">
            <a:extLst>
              <a:ext uri="{FF2B5EF4-FFF2-40B4-BE49-F238E27FC236}">
                <a16:creationId xmlns:a16="http://schemas.microsoft.com/office/drawing/2014/main" id="{C86CE5F9-F76C-5447-854F-C41CDBCF8B4D}"/>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8" name="Picture Placeholder 2">
            <a:extLst>
              <a:ext uri="{FF2B5EF4-FFF2-40B4-BE49-F238E27FC236}">
                <a16:creationId xmlns:a16="http://schemas.microsoft.com/office/drawing/2014/main" id="{AD67D36D-1FCA-3A46-9B4A-5D1828C6D688}"/>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9" name="Picture Placeholder 2">
            <a:extLst>
              <a:ext uri="{FF2B5EF4-FFF2-40B4-BE49-F238E27FC236}">
                <a16:creationId xmlns:a16="http://schemas.microsoft.com/office/drawing/2014/main" id="{486BE658-6D24-CA4C-AB3D-5A54CB356B30}"/>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0" name="Picture Placeholder 2">
            <a:extLst>
              <a:ext uri="{FF2B5EF4-FFF2-40B4-BE49-F238E27FC236}">
                <a16:creationId xmlns:a16="http://schemas.microsoft.com/office/drawing/2014/main" id="{FFF242D3-B6C6-414A-84B9-697A2301F818}"/>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1" name="Picture Placeholder 2">
            <a:extLst>
              <a:ext uri="{FF2B5EF4-FFF2-40B4-BE49-F238E27FC236}">
                <a16:creationId xmlns:a16="http://schemas.microsoft.com/office/drawing/2014/main" id="{D050F28B-8BAE-5B4C-B35C-E30F344D5141}"/>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2" name="Picture Placeholder 2">
            <a:extLst>
              <a:ext uri="{FF2B5EF4-FFF2-40B4-BE49-F238E27FC236}">
                <a16:creationId xmlns:a16="http://schemas.microsoft.com/office/drawing/2014/main" id="{642DCAE9-9E18-4B47-A5A0-FB78038F0822}"/>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3" name="Picture Placeholder 2">
            <a:extLst>
              <a:ext uri="{FF2B5EF4-FFF2-40B4-BE49-F238E27FC236}">
                <a16:creationId xmlns:a16="http://schemas.microsoft.com/office/drawing/2014/main" id="{F32F03F1-C50A-864C-B428-79231A186CED}"/>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2" name="Circle">
            <a:extLst>
              <a:ext uri="{FF2B5EF4-FFF2-40B4-BE49-F238E27FC236}">
                <a16:creationId xmlns:a16="http://schemas.microsoft.com/office/drawing/2014/main" id="{C1EAAE23-95AD-ACA9-8D10-06E84970F323}"/>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0C2C4A6C-1FF9-8DE3-A5AF-C565B10E0D9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x-none"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pPr marL="0" marR="0" indent="0" algn="ctr" defTabSz="825500" rtl="0" fontAlgn="auto" latinLnBrk="0" hangingPunct="0">
                <a:lnSpc>
                  <a:spcPct val="100000"/>
                </a:lnSpc>
                <a:spcBef>
                  <a:spcPts val="0"/>
                </a:spcBef>
                <a:spcAft>
                  <a:spcPts val="0"/>
                </a:spcAft>
                <a:buClrTx/>
                <a:buSzTx/>
                <a:buFontTx/>
                <a:buNone/>
                <a:tabLst/>
              </a:pPr>
              <a:t>‹#›</a:t>
            </a:fld>
            <a:endParaRPr kumimoji="0" lang="x-none"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74284329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bg>
      <p:bgPr>
        <a:solidFill>
          <a:schemeClr val="bg2"/>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 Photos">
    <p:bg>
      <p:bgPr>
        <a:solidFill>
          <a:schemeClr val="bg2"/>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01F935C2-BB49-7F44-AA76-95F670099320}"/>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3" name="Picture Placeholder 2">
            <a:extLst>
              <a:ext uri="{FF2B5EF4-FFF2-40B4-BE49-F238E27FC236}">
                <a16:creationId xmlns:a16="http://schemas.microsoft.com/office/drawing/2014/main" id="{58871FA9-522E-EF46-8ED1-22380FB4075C}"/>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4" name="Picture Placeholder 2">
            <a:extLst>
              <a:ext uri="{FF2B5EF4-FFF2-40B4-BE49-F238E27FC236}">
                <a16:creationId xmlns:a16="http://schemas.microsoft.com/office/drawing/2014/main" id="{A1CE6A93-8415-B84C-9636-40D989C3225E}"/>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5" name="Picture Placeholder 2">
            <a:extLst>
              <a:ext uri="{FF2B5EF4-FFF2-40B4-BE49-F238E27FC236}">
                <a16:creationId xmlns:a16="http://schemas.microsoft.com/office/drawing/2014/main" id="{24F4412B-9D40-1740-8196-208EDFDE6A40}"/>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6" name="Picture Placeholder 2">
            <a:extLst>
              <a:ext uri="{FF2B5EF4-FFF2-40B4-BE49-F238E27FC236}">
                <a16:creationId xmlns:a16="http://schemas.microsoft.com/office/drawing/2014/main" id="{DF52A887-0B61-FB40-A002-18D9DB156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7" name="Picture Placeholder 2">
            <a:extLst>
              <a:ext uri="{FF2B5EF4-FFF2-40B4-BE49-F238E27FC236}">
                <a16:creationId xmlns:a16="http://schemas.microsoft.com/office/drawing/2014/main" id="{9D153C23-CF0C-C44B-9801-00A206002652}"/>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8" name="Picture Placeholder 2">
            <a:extLst>
              <a:ext uri="{FF2B5EF4-FFF2-40B4-BE49-F238E27FC236}">
                <a16:creationId xmlns:a16="http://schemas.microsoft.com/office/drawing/2014/main" id="{BA9D09E7-4FBA-1C4C-8814-B5E33FE5F03F}"/>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9" name="Picture Placeholder 2">
            <a:extLst>
              <a:ext uri="{FF2B5EF4-FFF2-40B4-BE49-F238E27FC236}">
                <a16:creationId xmlns:a16="http://schemas.microsoft.com/office/drawing/2014/main" id="{9E774562-BACD-F54F-9D9D-7B802146C18E}"/>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0" name="Picture Placeholder 2">
            <a:extLst>
              <a:ext uri="{FF2B5EF4-FFF2-40B4-BE49-F238E27FC236}">
                <a16:creationId xmlns:a16="http://schemas.microsoft.com/office/drawing/2014/main" id="{3A962AB2-20FD-7B4B-A867-E694B5CA857B}"/>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
        <p:nvSpPr>
          <p:cNvPr id="11" name="Picture Placeholder 2">
            <a:extLst>
              <a:ext uri="{FF2B5EF4-FFF2-40B4-BE49-F238E27FC236}">
                <a16:creationId xmlns:a16="http://schemas.microsoft.com/office/drawing/2014/main" id="{BC6BEB8C-9FDC-BC4E-B300-7609F4B058E0}"/>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x-none" dirty="0"/>
          </a:p>
        </p:txBody>
      </p:sp>
    </p:spTree>
    <p:extLst>
      <p:ext uri="{BB962C8B-B14F-4D97-AF65-F5344CB8AC3E}">
        <p14:creationId xmlns:p14="http://schemas.microsoft.com/office/powerpoint/2010/main" val="15844534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6" r:id="rId2"/>
    <p:sldLayoutId id="2147483653" r:id="rId3"/>
    <p:sldLayoutId id="2147483651" r:id="rId4"/>
    <p:sldLayoutId id="2147483654" r:id="rId5"/>
    <p:sldLayoutId id="2147483652" r:id="rId6"/>
    <p:sldLayoutId id="2147483655" r:id="rId7"/>
  </p:sldLayoutIdLst>
  <p:transition spd="med"/>
  <p:txStyles>
    <p:titleStyle>
      <a:lvl1pPr marL="0" marR="0" indent="0"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1pPr>
      <a:lvl2pPr marL="0" marR="0" indent="457248"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2pPr>
      <a:lvl3pPr marL="0" marR="0" indent="914499"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3pPr>
      <a:lvl4pPr marL="0" marR="0" indent="1371747"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4pPr>
      <a:lvl5pPr marL="0" marR="0" indent="182899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5pPr>
      <a:lvl6pPr marL="0" marR="0" indent="2286246"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6pPr>
      <a:lvl7pPr marL="0" marR="0" indent="2743494"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7pPr>
      <a:lvl8pPr marL="0" marR="0" indent="320074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8pPr>
      <a:lvl9pPr marL="0" marR="0" indent="3657993"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9pPr>
    </p:titleStyle>
    <p:bodyStyle>
      <a:lvl1pPr marL="63506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1pPr>
      <a:lvl2pPr marL="127013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90520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3pPr>
      <a:lvl4pPr marL="2540273"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4pPr>
      <a:lvl5pPr marL="3175342"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5pPr>
      <a:lvl6pPr marL="381040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6pPr>
      <a:lvl7pPr marL="444547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7pPr>
      <a:lvl8pPr marL="508054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8pPr>
      <a:lvl9pPr marL="5715615"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48"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99"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747"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99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246"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494"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74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993"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bin"/><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bin"/><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bin"/><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bin"/><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alice.yandex.ru/" TargetMode="External"/><Relationship Id="rId2" Type="http://schemas.openxmlformats.org/officeDocument/2006/relationships/hyperlink" Target="https://www.profiz.ru/peo/1_2018/shtatnoje_raspisanije/"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8771-F6A7-8CE4-529C-6DFE03F324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B139557-0DC5-BEDE-6972-DB6CB218BCE6}"/>
              </a:ext>
            </a:extLst>
          </p:cNvPr>
          <p:cNvSpPr/>
          <p:nvPr/>
        </p:nvSpPr>
        <p:spPr>
          <a:xfrm>
            <a:off x="0" y="284481"/>
            <a:ext cx="24384000" cy="13716000"/>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x-none"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Рисунок 2">
            <a:extLst>
              <a:ext uri="{FF2B5EF4-FFF2-40B4-BE49-F238E27FC236}">
                <a16:creationId xmlns:a16="http://schemas.microsoft.com/office/drawing/2014/main" id="{8C653170-95E6-A1F3-81FD-DD2A19124E6E}"/>
              </a:ext>
            </a:extLst>
          </p:cNvPr>
          <p:cNvPicPr>
            <a:picLocks noChangeAspect="1"/>
          </p:cNvPicPr>
          <p:nvPr/>
        </p:nvPicPr>
        <p:blipFill>
          <a:blip r:embed="rId2"/>
          <a:stretch>
            <a:fillRect/>
          </a:stretch>
        </p:blipFill>
        <p:spPr>
          <a:xfrm>
            <a:off x="1440000" y="1440000"/>
            <a:ext cx="5689600" cy="2503429"/>
          </a:xfrm>
          <a:prstGeom prst="rect">
            <a:avLst/>
          </a:prstGeom>
        </p:spPr>
      </p:pic>
      <p:sp>
        <p:nvSpPr>
          <p:cNvPr id="4" name="TextBox 3">
            <a:extLst>
              <a:ext uri="{FF2B5EF4-FFF2-40B4-BE49-F238E27FC236}">
                <a16:creationId xmlns:a16="http://schemas.microsoft.com/office/drawing/2014/main" id="{C76E0751-2C8B-579A-D15D-B8619F01E597}"/>
              </a:ext>
            </a:extLst>
          </p:cNvPr>
          <p:cNvSpPr txBox="1"/>
          <p:nvPr/>
        </p:nvSpPr>
        <p:spPr>
          <a:xfrm>
            <a:off x="1695449" y="5318127"/>
            <a:ext cx="15818827" cy="1477328"/>
          </a:xfrm>
          <a:prstGeom prst="rect">
            <a:avLst/>
          </a:prstGeom>
          <a:noFill/>
        </p:spPr>
        <p:txBody>
          <a:bodyPr wrap="square" lIns="0" tIns="0" rIns="0" bIns="0" rtlCol="0" anchor="t">
            <a:spAutoFit/>
          </a:bodyPr>
          <a:lstStyle/>
          <a:p>
            <a:pPr algn="l"/>
            <a:r>
              <a:rPr lang="ru-RU" sz="9600" b="1" kern="150" dirty="0">
                <a:solidFill>
                  <a:schemeClr val="bg1"/>
                </a:solidFill>
                <a:effectLst/>
                <a:latin typeface="Arial" panose="020B0604020202020204" pitchFamily="34" charset="0"/>
                <a:ea typeface="NSimSun" panose="02010609030101010101" pitchFamily="49" charset="-122"/>
                <a:cs typeface="Arial" panose="020B0604020202020204" pitchFamily="34" charset="0"/>
              </a:rPr>
              <a:t>Лабораторная работа №2</a:t>
            </a:r>
            <a:endParaRPr lang="ru-RU" sz="9600" kern="150" dirty="0">
              <a:solidFill>
                <a:schemeClr val="bg1"/>
              </a:solidFill>
              <a:effectLst/>
              <a:latin typeface="Arial" panose="020B0604020202020204" pitchFamily="34" charset="0"/>
              <a:ea typeface="NSimSun" panose="02010609030101010101" pitchFamily="49" charset="-122"/>
              <a:cs typeface="Arial" panose="020B0604020202020204" pitchFamily="34" charset="0"/>
            </a:endParaRPr>
          </a:p>
        </p:txBody>
      </p:sp>
      <p:pic>
        <p:nvPicPr>
          <p:cNvPr id="457" name="Рисунок 456">
            <a:extLst>
              <a:ext uri="{FF2B5EF4-FFF2-40B4-BE49-F238E27FC236}">
                <a16:creationId xmlns:a16="http://schemas.microsoft.com/office/drawing/2014/main" id="{4AD467F6-C2E6-9A59-7107-07A50951CF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64669" y="1"/>
            <a:ext cx="10659962" cy="13715999"/>
          </a:xfrm>
          <a:prstGeom prst="rect">
            <a:avLst/>
          </a:prstGeom>
        </p:spPr>
      </p:pic>
      <p:sp>
        <p:nvSpPr>
          <p:cNvPr id="6" name="TextBox 5"/>
          <p:cNvSpPr txBox="1"/>
          <p:nvPr/>
        </p:nvSpPr>
        <p:spPr>
          <a:xfrm>
            <a:off x="1695450" y="10360968"/>
            <a:ext cx="6667500"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ru-RU" sz="3000" b="1" i="0" u="none" strike="noStrike" cap="none" spc="0" normalizeH="0" baseline="0" dirty="0">
                <a:ln>
                  <a:noFill/>
                </a:ln>
                <a:solidFill>
                  <a:schemeClr val="bg1"/>
                </a:solidFill>
                <a:effectLst/>
                <a:uFillTx/>
                <a:latin typeface="Helvetica Neue"/>
                <a:ea typeface="Helvetica Neue"/>
                <a:cs typeface="Helvetica Neue"/>
                <a:sym typeface="Helvetica Neue"/>
              </a:rPr>
              <a:t>Подготовила студентка</a:t>
            </a:r>
            <a:r>
              <a:rPr kumimoji="0" lang="ru-RU" sz="3000" b="1" i="0" u="none" strike="noStrike" cap="none" spc="0" normalizeH="0" dirty="0">
                <a:ln>
                  <a:noFill/>
                </a:ln>
                <a:solidFill>
                  <a:schemeClr val="bg1"/>
                </a:solidFill>
                <a:effectLst/>
                <a:uFillTx/>
                <a:latin typeface="Helvetica Neue"/>
                <a:ea typeface="Helvetica Neue"/>
                <a:cs typeface="Helvetica Neue"/>
                <a:sym typeface="Helvetica Neue"/>
              </a:rPr>
              <a:t> группы Иб-321</a:t>
            </a:r>
            <a:br>
              <a:rPr kumimoji="0" lang="ru-RU" sz="3000" b="1" i="0" u="none" strike="noStrike" cap="none" spc="0" normalizeH="0" dirty="0">
                <a:ln>
                  <a:noFill/>
                </a:ln>
                <a:solidFill>
                  <a:schemeClr val="bg1"/>
                </a:solidFill>
                <a:effectLst/>
                <a:uFillTx/>
                <a:latin typeface="Helvetica Neue"/>
                <a:ea typeface="Helvetica Neue"/>
                <a:cs typeface="Helvetica Neue"/>
                <a:sym typeface="Helvetica Neue"/>
              </a:rPr>
            </a:br>
            <a:r>
              <a:rPr kumimoji="0" lang="ru-RU" sz="3000" b="1" i="0" u="none" strike="noStrike" cap="none" spc="0" normalizeH="0" dirty="0">
                <a:ln>
                  <a:noFill/>
                </a:ln>
                <a:solidFill>
                  <a:schemeClr val="bg1"/>
                </a:solidFill>
                <a:effectLst/>
                <a:uFillTx/>
                <a:latin typeface="Helvetica Neue"/>
                <a:ea typeface="Helvetica Neue"/>
                <a:cs typeface="Helvetica Neue"/>
                <a:sym typeface="Helvetica Neue"/>
              </a:rPr>
              <a:t>Фрайштетер П.А.</a:t>
            </a:r>
          </a:p>
          <a:p>
            <a:pPr marL="0" marR="0" indent="0" algn="l" defTabSz="825500" rtl="0" fontAlgn="auto" latinLnBrk="0" hangingPunct="0">
              <a:lnSpc>
                <a:spcPct val="100000"/>
              </a:lnSpc>
              <a:spcBef>
                <a:spcPts val="0"/>
              </a:spcBef>
              <a:spcAft>
                <a:spcPts val="0"/>
              </a:spcAft>
              <a:buClrTx/>
              <a:buSzTx/>
              <a:buFontTx/>
              <a:buNone/>
              <a:tabLst/>
            </a:pPr>
            <a:r>
              <a:rPr lang="ru-RU" baseline="0" dirty="0">
                <a:solidFill>
                  <a:schemeClr val="bg1"/>
                </a:solidFill>
              </a:rPr>
              <a:t>Яшина Е.Л</a:t>
            </a:r>
            <a:endParaRPr kumimoji="0" lang="en-US" sz="3000" b="1" i="0" u="none" strike="noStrike" cap="none" spc="0" normalizeH="0" baseline="0" dirty="0">
              <a:ln>
                <a:noFill/>
              </a:ln>
              <a:solidFill>
                <a:schemeClr val="bg1"/>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273058718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Demo Text"/>
          <p:cNvSpPr txBox="1"/>
          <p:nvPr/>
        </p:nvSpPr>
        <p:spPr>
          <a:xfrm>
            <a:off x="1427163" y="1373373"/>
            <a:ext cx="12468450" cy="12311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chemeClr val="accent2"/>
                </a:solidFill>
                <a:latin typeface="Arial" panose="020B0604020202020204" pitchFamily="34" charset="0"/>
                <a:cs typeface="Arial" panose="020B0604020202020204" pitchFamily="34" charset="0"/>
              </a:rPr>
              <a:t>Введение</a:t>
            </a:r>
            <a:endParaRPr b="1" dirty="0">
              <a:solidFill>
                <a:schemeClr val="accent2"/>
              </a:solidFill>
              <a:latin typeface="Arial" panose="020B0604020202020204" pitchFamily="34" charset="0"/>
              <a:cs typeface="Arial" panose="020B0604020202020204" pitchFamily="34" charset="0"/>
            </a:endParaRPr>
          </a:p>
        </p:txBody>
      </p:sp>
      <p:sp>
        <p:nvSpPr>
          <p:cNvPr id="59"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1427164" y="3251200"/>
            <a:ext cx="21453156" cy="56312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l">
              <a:lnSpc>
                <a:spcPct val="115000"/>
              </a:lnSpc>
              <a:spcBef>
                <a:spcPts val="1200"/>
              </a:spcBef>
            </a:pPr>
            <a:r>
              <a:rPr lang="ru-RU" sz="2800" b="1" kern="100" dirty="0">
                <a:solidFill>
                  <a:srgbClr val="A00F33"/>
                </a:solidFill>
                <a:effectLst/>
                <a:latin typeface="Arial" panose="020B0604020202020204" pitchFamily="34" charset="0"/>
                <a:ea typeface="Times New Roman" panose="02020603050405020304" pitchFamily="18" charset="0"/>
                <a:cs typeface="Arial" panose="020B0604020202020204" pitchFamily="34" charset="0"/>
              </a:rPr>
              <a:t>Цель:</a:t>
            </a:r>
          </a:p>
          <a:p>
            <a:pPr algn="l">
              <a:lnSpc>
                <a:spcPct val="115000"/>
              </a:lnSpc>
              <a:spcAft>
                <a:spcPts val="800"/>
              </a:spcAft>
            </a:pPr>
            <a:r>
              <a:rPr lang="ru-RU" sz="2800" kern="100" dirty="0">
                <a:effectLst/>
                <a:latin typeface="Arial" panose="020B0604020202020204" pitchFamily="34" charset="0"/>
                <a:ea typeface="SimSun" panose="02010600030101010101" pitchFamily="2" charset="-122"/>
                <a:cs typeface="Arial" panose="020B0604020202020204" pitchFamily="34" charset="0"/>
              </a:rPr>
              <a:t>Изучить и сделать </a:t>
            </a:r>
            <a:r>
              <a:rPr lang="ru-RU" sz="2800" kern="100" dirty="0" err="1">
                <a:effectLst/>
                <a:latin typeface="Arial" panose="020B0604020202020204" pitchFamily="34" charset="0"/>
                <a:ea typeface="SimSun" panose="02010600030101010101" pitchFamily="2" charset="-122"/>
                <a:cs typeface="Arial" panose="020B0604020202020204" pitchFamily="34" charset="0"/>
              </a:rPr>
              <a:t>реквизитый</a:t>
            </a:r>
            <a:r>
              <a:rPr lang="ru-RU" sz="2800" kern="100" dirty="0">
                <a:effectLst/>
                <a:latin typeface="Arial" panose="020B0604020202020204" pitchFamily="34" charset="0"/>
                <a:ea typeface="SimSun" panose="02010600030101010101" pitchFamily="2" charset="-122"/>
                <a:cs typeface="Arial" panose="020B0604020202020204" pitchFamily="34" charset="0"/>
              </a:rPr>
              <a:t> анализ экономического документа и создание его </a:t>
            </a:r>
            <a:r>
              <a:rPr lang="ru-RU" sz="2800" kern="100" dirty="0" err="1">
                <a:effectLst/>
                <a:latin typeface="Arial" panose="020B0604020202020204" pitchFamily="34" charset="0"/>
                <a:ea typeface="SimSun" panose="02010600030101010101" pitchFamily="2" charset="-122"/>
                <a:cs typeface="Arial" panose="020B0604020202020204" pitchFamily="34" charset="0"/>
              </a:rPr>
              <a:t>внутримашинного</a:t>
            </a:r>
            <a:r>
              <a:rPr lang="ru-RU" sz="2800" kern="100" dirty="0">
                <a:effectLst/>
                <a:latin typeface="Arial" panose="020B0604020202020204" pitchFamily="34" charset="0"/>
                <a:ea typeface="SimSun" panose="02010600030101010101" pitchFamily="2" charset="-122"/>
                <a:cs typeface="Arial" panose="020B0604020202020204" pitchFamily="34" charset="0"/>
              </a:rPr>
              <a:t> представления</a:t>
            </a:r>
          </a:p>
          <a:p>
            <a:pPr algn="l">
              <a:lnSpc>
                <a:spcPct val="115000"/>
              </a:lnSpc>
              <a:spcBef>
                <a:spcPts val="1200"/>
              </a:spcBef>
            </a:pPr>
            <a:r>
              <a:rPr lang="ru-RU" sz="2800" kern="100" dirty="0">
                <a:solidFill>
                  <a:srgbClr val="A00F33"/>
                </a:solidFill>
                <a:latin typeface="Arial" panose="020B0604020202020204" pitchFamily="34" charset="0"/>
                <a:cs typeface="Arial" panose="020B0604020202020204" pitchFamily="34" charset="0"/>
              </a:rPr>
              <a:t>Задачи:</a:t>
            </a:r>
          </a:p>
          <a:p>
            <a:pPr algn="l">
              <a:lnSpc>
                <a:spcPct val="115000"/>
              </a:lnSpc>
              <a:spcAft>
                <a:spcPts val="800"/>
              </a:spcAft>
            </a:pPr>
            <a:r>
              <a:rPr lang="ru-RU" sz="2800" kern="100" dirty="0">
                <a:effectLst/>
                <a:latin typeface="Arial" panose="020B0604020202020204" pitchFamily="34" charset="0"/>
                <a:ea typeface="SimSun" panose="02010600030101010101" pitchFamily="2" charset="-122"/>
                <a:cs typeface="Arial" panose="020B0604020202020204" pitchFamily="34" charset="0"/>
              </a:rPr>
              <a:t>Выбрать экономический документ </a:t>
            </a:r>
            <a:r>
              <a:rPr lang="ru-RU" sz="2800" kern="100" dirty="0">
                <a:solidFill>
                  <a:srgbClr val="000000"/>
                </a:solidFill>
                <a:effectLst/>
                <a:latin typeface="Arial" panose="020B0604020202020204" pitchFamily="34" charset="0"/>
                <a:ea typeface="SimSun" panose="02010600030101010101" pitchFamily="2" charset="-122"/>
                <a:cs typeface="Arial" panose="020B0604020202020204" pitchFamily="34" charset="0"/>
              </a:rPr>
              <a:t>и провести его реквизитный анализ. Дать текстовое описание процесса работы с выбранным документом. Изучить стандарт BPMN 2.0 и построить диаграмму процесса в выбранном инструменте. Разработать концептуальную, логическую и физическую модели базы данных для работы с документом.</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p>
            <a:pPr algn="l">
              <a:lnSpc>
                <a:spcPct val="115000"/>
              </a:lnSpc>
              <a:spcBef>
                <a:spcPts val="1200"/>
              </a:spcBef>
            </a:pPr>
            <a:r>
              <a:rPr lang="ru-RU" sz="2800" kern="100" dirty="0">
                <a:solidFill>
                  <a:srgbClr val="A00F33"/>
                </a:solidFill>
                <a:latin typeface="Arial" panose="020B0604020202020204" pitchFamily="34" charset="0"/>
                <a:cs typeface="Arial" panose="020B0604020202020204" pitchFamily="34" charset="0"/>
              </a:rPr>
              <a:t>Используемое ПО:</a:t>
            </a:r>
          </a:p>
          <a:p>
            <a:pPr algn="l">
              <a:lnSpc>
                <a:spcPct val="115000"/>
              </a:lnSpc>
              <a:spcAft>
                <a:spcPts val="800"/>
              </a:spcAft>
            </a:pPr>
            <a:r>
              <a:rPr lang="ru-RU" sz="2800" kern="100" dirty="0">
                <a:effectLst/>
                <a:latin typeface="Arial" panose="020B0604020202020204" pitchFamily="34" charset="0"/>
                <a:ea typeface="SimSun" panose="02010600030101010101" pitchFamily="2" charset="-122"/>
                <a:cs typeface="Arial" panose="020B0604020202020204" pitchFamily="34" charset="0"/>
              </a:rPr>
              <a:t>Компьютер: ОС </a:t>
            </a:r>
            <a:r>
              <a:rPr lang="en-US" sz="2800" kern="100" dirty="0">
                <a:effectLst/>
                <a:latin typeface="Arial" panose="020B0604020202020204" pitchFamily="34" charset="0"/>
                <a:ea typeface="SimSun" panose="02010600030101010101" pitchFamily="2" charset="-122"/>
                <a:cs typeface="Arial" panose="020B0604020202020204" pitchFamily="34" charset="0"/>
              </a:rPr>
              <a:t>Windows</a:t>
            </a:r>
            <a:r>
              <a:rPr lang="ru-RU" sz="2800" kern="100" dirty="0">
                <a:effectLst/>
                <a:latin typeface="Arial" panose="020B0604020202020204" pitchFamily="34" charset="0"/>
                <a:ea typeface="SimSun" panose="02010600030101010101" pitchFamily="2" charset="-122"/>
                <a:cs typeface="Arial" panose="020B0604020202020204" pitchFamily="34" charset="0"/>
              </a:rPr>
              <a:t> 11</a:t>
            </a:r>
          </a:p>
          <a:p>
            <a:pPr algn="l">
              <a:lnSpc>
                <a:spcPct val="115000"/>
              </a:lnSpc>
              <a:spcAft>
                <a:spcPts val="800"/>
              </a:spcAft>
            </a:pPr>
            <a:r>
              <a:rPr lang="ru-RU" sz="2800" kern="100" dirty="0">
                <a:effectLst/>
                <a:latin typeface="Arial" panose="020B0604020202020204" pitchFamily="34" charset="0"/>
                <a:ea typeface="SimSun" panose="02010600030101010101" pitchFamily="2" charset="-122"/>
                <a:cs typeface="Arial" panose="020B0604020202020204" pitchFamily="34" charset="0"/>
              </a:rPr>
              <a:t>Программы: </a:t>
            </a:r>
            <a:r>
              <a:rPr lang="en-US" sz="2800" kern="100" dirty="0" err="1">
                <a:effectLst/>
                <a:latin typeface="Arial" panose="020B0604020202020204" pitchFamily="34" charset="0"/>
                <a:ea typeface="SimSun" panose="02010600030101010101" pitchFamily="2" charset="-122"/>
                <a:cs typeface="Arial" panose="020B0604020202020204" pitchFamily="34" charset="0"/>
              </a:rPr>
              <a:t>pgAdmin</a:t>
            </a:r>
            <a:r>
              <a:rPr lang="ru-RU" sz="2800" kern="100" dirty="0">
                <a:effectLst/>
                <a:latin typeface="Arial" panose="020B0604020202020204" pitchFamily="34" charset="0"/>
                <a:ea typeface="SimSun" panose="02010600030101010101" pitchFamily="2" charset="-122"/>
                <a:cs typeface="Arial" panose="020B0604020202020204" pitchFamily="34" charset="0"/>
              </a:rPr>
              <a:t>4, </a:t>
            </a:r>
            <a:r>
              <a:rPr lang="en-US" sz="2800" kern="100" dirty="0" err="1">
                <a:effectLst/>
                <a:latin typeface="Arial" panose="020B0604020202020204" pitchFamily="34" charset="0"/>
                <a:ea typeface="SimSun" panose="02010600030101010101" pitchFamily="2" charset="-122"/>
                <a:cs typeface="Arial" panose="020B0604020202020204" pitchFamily="34" charset="0"/>
              </a:rPr>
              <a:t>GitHab</a:t>
            </a:r>
            <a:r>
              <a:rPr lang="ru-RU" sz="2800" kern="100" dirty="0">
                <a:effectLst/>
                <a:latin typeface="Arial" panose="020B0604020202020204" pitchFamily="34" charset="0"/>
                <a:ea typeface="SimSun" panose="02010600030101010101" pitchFamily="2" charset="-122"/>
                <a:cs typeface="Arial" panose="020B0604020202020204" pitchFamily="34" charset="0"/>
              </a:rPr>
              <a:t>, </a:t>
            </a:r>
            <a:r>
              <a:rPr lang="en-US" sz="2800" kern="100" dirty="0">
                <a:effectLst/>
                <a:latin typeface="Arial" panose="020B0604020202020204" pitchFamily="34" charset="0"/>
                <a:ea typeface="SimSun" panose="02010600030101010101" pitchFamily="2" charset="-122"/>
                <a:cs typeface="Arial" panose="020B0604020202020204" pitchFamily="34" charset="0"/>
              </a:rPr>
              <a:t>BPMN.IO</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p>
            <a:pPr algn="l">
              <a:lnSpc>
                <a:spcPct val="115000"/>
              </a:lnSpc>
              <a:spcAft>
                <a:spcPts val="800"/>
              </a:spcAft>
            </a:pPr>
            <a:r>
              <a:rPr lang="ru-RU" sz="2800" kern="100" dirty="0">
                <a:effectLst/>
                <a:latin typeface="Arial" panose="020B0604020202020204" pitchFamily="34" charset="0"/>
                <a:ea typeface="SimSun" panose="02010600030101010101" pitchFamily="2" charset="-122"/>
                <a:cs typeface="Arial" panose="020B0604020202020204" pitchFamily="34" charset="0"/>
              </a:rPr>
              <a:t>Нейросеть: </a:t>
            </a:r>
            <a:r>
              <a:rPr lang="en-US" sz="2800" kern="100" dirty="0">
                <a:effectLst/>
                <a:latin typeface="Arial" panose="020B0604020202020204" pitchFamily="34" charset="0"/>
                <a:ea typeface="SimSun" panose="02010600030101010101" pitchFamily="2" charset="-122"/>
                <a:cs typeface="Arial" panose="020B0604020202020204" pitchFamily="34" charset="0"/>
              </a:rPr>
              <a:t>Yandex </a:t>
            </a:r>
            <a:r>
              <a:rPr lang="ru-RU" sz="2800" kern="100" dirty="0">
                <a:effectLst/>
                <a:latin typeface="Arial" panose="020B0604020202020204" pitchFamily="34" charset="0"/>
                <a:ea typeface="SimSun" panose="02010600030101010101" pitchFamily="2" charset="-122"/>
                <a:cs typeface="Arial" panose="020B0604020202020204" pitchFamily="34" charset="0"/>
              </a:rPr>
              <a:t>Алиса</a:t>
            </a:r>
          </a:p>
        </p:txBody>
      </p:sp>
      <p:sp>
        <p:nvSpPr>
          <p:cNvPr id="60" name="Rectangle"/>
          <p:cNvSpPr/>
          <p:nvPr/>
        </p:nvSpPr>
        <p:spPr>
          <a:xfrm>
            <a:off x="1427163" y="1162050"/>
            <a:ext cx="3158692" cy="116630"/>
          </a:xfrm>
          <a:prstGeom prst="rect">
            <a:avLst/>
          </a:prstGeom>
          <a:solidFill>
            <a:schemeClr val="accent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61" name="Subtitle Text"/>
          <p:cNvSpPr/>
          <p:nvPr/>
        </p:nvSpPr>
        <p:spPr>
          <a:xfrm>
            <a:off x="1427164" y="2266950"/>
            <a:ext cx="3322710" cy="3375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solidFill>
            <a:schemeClr val="accent2"/>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endParaRPr sz="1401" dirty="0">
              <a:solidFill>
                <a:srgbClr val="171F29"/>
              </a:solidFill>
              <a:latin typeface="Arial" panose="020B0604020202020204" pitchFamily="34" charset="0"/>
              <a:cs typeface="Arial" panose="020B0604020202020204" pitchFamily="3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All the world is made of faith, and trust, and pixie dust."/>
          <p:cNvSpPr txBox="1"/>
          <p:nvPr/>
        </p:nvSpPr>
        <p:spPr>
          <a:xfrm>
            <a:off x="1586363" y="839787"/>
            <a:ext cx="10605637" cy="1025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r>
              <a:rPr lang="ru-RU" sz="6000" b="1" kern="100" dirty="0">
                <a:solidFill>
                  <a:schemeClr val="bg1"/>
                </a:solidFill>
                <a:effectLst/>
                <a:latin typeface="Arial" panose="020B0604020202020204" pitchFamily="34" charset="0"/>
                <a:ea typeface="SimSun" panose="02010600030101010101" pitchFamily="2" charset="-122"/>
                <a:cs typeface="Arial" panose="020B0604020202020204" pitchFamily="34" charset="0"/>
              </a:rPr>
              <a:t>Документ</a:t>
            </a:r>
            <a:endParaRPr lang="ru-RU" sz="6000" b="1" dirty="0">
              <a:solidFill>
                <a:schemeClr val="bg1"/>
              </a:solidFill>
              <a:latin typeface="Arial" panose="020B0604020202020204" pitchFamily="34" charset="0"/>
              <a:cs typeface="Arial" panose="020B0604020202020204" pitchFamily="34" charset="0"/>
            </a:endParaRPr>
          </a:p>
        </p:txBody>
      </p:sp>
      <p:sp>
        <p:nvSpPr>
          <p:cNvPr id="78" name="Lorem ipsum dolor sit amet, consectetur adipiscing elit, sed do eiusmod tempor incididunt ut labore et dolore magna aliqua. Arcu dictum varius duis at lorem donec. Volutpat maecenas volutpat blandit aliquam. Egestas quis ipsum suspendisse ultrices gravid"/>
          <p:cNvSpPr txBox="1"/>
          <p:nvPr/>
        </p:nvSpPr>
        <p:spPr>
          <a:xfrm>
            <a:off x="937260" y="4438015"/>
            <a:ext cx="10901051" cy="5559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p>
            <a:pPr>
              <a:lnSpc>
                <a:spcPct val="115000"/>
              </a:lnSpc>
              <a:spcAft>
                <a:spcPts val="800"/>
              </a:spcAft>
            </a:pPr>
            <a:r>
              <a:rPr lang="ru-RU" sz="2800" kern="100">
                <a:solidFill>
                  <a:schemeClr val="bg1"/>
                </a:solidFill>
                <a:effectLst/>
                <a:latin typeface="Arial" panose="020B0604020202020204" pitchFamily="34" charset="0"/>
                <a:ea typeface="SimSun" panose="02010600030101010101" pitchFamily="2" charset="-122"/>
                <a:cs typeface="Arial" panose="020B0604020202020204" pitchFamily="34" charset="0"/>
              </a:rPr>
              <a:t>Шаблон штатного расписания</a:t>
            </a:r>
          </a:p>
        </p:txBody>
      </p:sp>
      <p:pic>
        <p:nvPicPr>
          <p:cNvPr id="2" name="Рисунок 1">
            <a:extLst>
              <a:ext uri="{FF2B5EF4-FFF2-40B4-BE49-F238E27FC236}">
                <a16:creationId xmlns:a16="http://schemas.microsoft.com/office/drawing/2014/main" id="{E5531966-0633-6BFB-BFE4-21707D983B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328932"/>
            <a:ext cx="13065760" cy="8387068"/>
          </a:xfrm>
          <a:prstGeom prst="rect">
            <a:avLst/>
          </a:prstGeom>
        </p:spPr>
      </p:pic>
      <p:sp>
        <p:nvSpPr>
          <p:cNvPr id="4" name="TextBox 3">
            <a:extLst>
              <a:ext uri="{FF2B5EF4-FFF2-40B4-BE49-F238E27FC236}">
                <a16:creationId xmlns:a16="http://schemas.microsoft.com/office/drawing/2014/main" id="{2A997094-03A8-69DF-EEB9-BC982CEA2006}"/>
              </a:ext>
            </a:extLst>
          </p:cNvPr>
          <p:cNvSpPr txBox="1"/>
          <p:nvPr/>
        </p:nvSpPr>
        <p:spPr>
          <a:xfrm>
            <a:off x="13675360" y="5934839"/>
            <a:ext cx="12192000"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ru-RU" sz="2800" b="1" dirty="0">
                <a:solidFill>
                  <a:srgbClr val="0F1115"/>
                </a:solidFill>
                <a:effectLst/>
                <a:latin typeface="Arial" panose="020B0604020202020204" pitchFamily="34" charset="0"/>
                <a:cs typeface="Arial" panose="020B0604020202020204" pitchFamily="34" charset="0"/>
              </a:rPr>
              <a:t>Основная информация:</a:t>
            </a:r>
          </a:p>
          <a:p>
            <a:pPr algn="l">
              <a:buFont typeface="Arial" panose="020B0604020202020204" pitchFamily="34" charset="0"/>
              <a:buChar char="•"/>
            </a:pPr>
            <a:r>
              <a:rPr lang="ru-RU" sz="2800" b="1" i="0" dirty="0">
                <a:solidFill>
                  <a:srgbClr val="0F1115"/>
                </a:solidFill>
                <a:effectLst/>
                <a:latin typeface="Arial" panose="020B0604020202020204" pitchFamily="34" charset="0"/>
                <a:cs typeface="Arial" panose="020B0604020202020204" pitchFamily="34" charset="0"/>
              </a:rPr>
              <a:t>Организация</a:t>
            </a:r>
            <a:r>
              <a:rPr lang="ru-RU" sz="2800" b="0" i="0" dirty="0">
                <a:solidFill>
                  <a:srgbClr val="0F1115"/>
                </a:solidFill>
                <a:effectLst/>
                <a:latin typeface="Arial" panose="020B0604020202020204" pitchFamily="34" charset="0"/>
                <a:cs typeface="Arial" panose="020B0604020202020204" pitchFamily="34" charset="0"/>
              </a:rPr>
              <a:t>: ООО «Орион» (пример).</a:t>
            </a:r>
          </a:p>
          <a:p>
            <a:pPr algn="l">
              <a:buFont typeface="Arial" panose="020B0604020202020204" pitchFamily="34" charset="0"/>
              <a:buChar char="•"/>
            </a:pPr>
            <a:r>
              <a:rPr lang="ru-RU" sz="2800" b="1" i="0" dirty="0">
                <a:solidFill>
                  <a:srgbClr val="0F1115"/>
                </a:solidFill>
                <a:effectLst/>
                <a:latin typeface="Arial" panose="020B0604020202020204" pitchFamily="34" charset="0"/>
                <a:cs typeface="Arial" panose="020B0604020202020204" pitchFamily="34" charset="0"/>
              </a:rPr>
              <a:t>Дата составления</a:t>
            </a:r>
            <a:r>
              <a:rPr lang="ru-RU" sz="2800" b="0" i="0" dirty="0">
                <a:solidFill>
                  <a:srgbClr val="0F1115"/>
                </a:solidFill>
                <a:effectLst/>
                <a:latin typeface="Arial" panose="020B0604020202020204" pitchFamily="34" charset="0"/>
                <a:cs typeface="Arial" panose="020B0604020202020204" pitchFamily="34" charset="0"/>
              </a:rPr>
              <a:t>: 31.12.2023.</a:t>
            </a:r>
          </a:p>
          <a:p>
            <a:pPr algn="l">
              <a:buFont typeface="Arial" panose="020B0604020202020204" pitchFamily="34" charset="0"/>
              <a:buChar char="•"/>
            </a:pPr>
            <a:r>
              <a:rPr lang="ru-RU" sz="2800" b="1" i="0" dirty="0">
                <a:solidFill>
                  <a:srgbClr val="0F1115"/>
                </a:solidFill>
                <a:effectLst/>
                <a:latin typeface="Arial" panose="020B0604020202020204" pitchFamily="34" charset="0"/>
                <a:cs typeface="Arial" panose="020B0604020202020204" pitchFamily="34" charset="0"/>
              </a:rPr>
              <a:t>Номер документа</a:t>
            </a:r>
            <a:r>
              <a:rPr lang="ru-RU" sz="2800" b="0" i="0" dirty="0">
                <a:solidFill>
                  <a:srgbClr val="0F1115"/>
                </a:solidFill>
                <a:effectLst/>
                <a:latin typeface="Arial" panose="020B0604020202020204" pitchFamily="34" charset="0"/>
                <a:cs typeface="Arial" panose="020B0604020202020204" pitchFamily="34" charset="0"/>
              </a:rPr>
              <a:t>: 1.</a:t>
            </a:r>
          </a:p>
          <a:p>
            <a:pPr algn="l">
              <a:buFont typeface="Arial" panose="020B0604020202020204" pitchFamily="34" charset="0"/>
              <a:buChar char="•"/>
            </a:pPr>
            <a:r>
              <a:rPr lang="ru-RU" sz="2800" b="1" i="0" dirty="0">
                <a:solidFill>
                  <a:srgbClr val="0F1115"/>
                </a:solidFill>
                <a:effectLst/>
                <a:latin typeface="Arial" panose="020B0604020202020204" pitchFamily="34" charset="0"/>
                <a:cs typeface="Arial" panose="020B0604020202020204" pitchFamily="34" charset="0"/>
              </a:rPr>
              <a:t>Приказ об утверждении</a:t>
            </a:r>
            <a:r>
              <a:rPr lang="ru-RU" sz="2800" b="0" i="0" dirty="0">
                <a:solidFill>
                  <a:srgbClr val="0F1115"/>
                </a:solidFill>
                <a:effectLst/>
                <a:latin typeface="Arial" panose="020B0604020202020204" pitchFamily="34" charset="0"/>
                <a:cs typeface="Arial" panose="020B0604020202020204" pitchFamily="34" charset="0"/>
              </a:rPr>
              <a:t>: № ШР/24 от 31 декабря 2023 г.</a:t>
            </a:r>
          </a:p>
          <a:p>
            <a:pPr algn="l">
              <a:buFont typeface="Arial" panose="020B0604020202020204" pitchFamily="34" charset="0"/>
              <a:buChar char="•"/>
            </a:pPr>
            <a:r>
              <a:rPr lang="ru-RU" sz="2800" b="1" i="0" dirty="0">
                <a:solidFill>
                  <a:srgbClr val="0F1115"/>
                </a:solidFill>
                <a:effectLst/>
                <a:latin typeface="Arial" panose="020B0604020202020204" pitchFamily="34" charset="0"/>
                <a:cs typeface="Arial" panose="020B0604020202020204" pitchFamily="34" charset="0"/>
              </a:rPr>
              <a:t>Штатная численность</a:t>
            </a:r>
            <a:r>
              <a:rPr lang="ru-RU" sz="2800" b="0" i="0" dirty="0">
                <a:solidFill>
                  <a:srgbClr val="0F1115"/>
                </a:solidFill>
                <a:effectLst/>
                <a:latin typeface="Arial" panose="020B0604020202020204" pitchFamily="34" charset="0"/>
                <a:cs typeface="Arial" panose="020B0604020202020204" pitchFamily="34" charset="0"/>
              </a:rPr>
              <a:t>: 4 единицы.</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Rectangle"/>
          <p:cNvSpPr/>
          <p:nvPr/>
        </p:nvSpPr>
        <p:spPr>
          <a:xfrm>
            <a:off x="0" y="-10400453"/>
            <a:ext cx="13573760" cy="12147973"/>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676" name="All the world is made of faith, and trust, and pixie dust."/>
          <p:cNvSpPr txBox="1"/>
          <p:nvPr/>
        </p:nvSpPr>
        <p:spPr>
          <a:xfrm>
            <a:off x="825866" y="313866"/>
            <a:ext cx="14251573"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Реквизитный анализ документа</a:t>
            </a:r>
          </a:p>
        </p:txBody>
      </p:sp>
      <p:grpSp>
        <p:nvGrpSpPr>
          <p:cNvPr id="56" name="Group 55">
            <a:extLst>
              <a:ext uri="{FF2B5EF4-FFF2-40B4-BE49-F238E27FC236}">
                <a16:creationId xmlns:a16="http://schemas.microsoft.com/office/drawing/2014/main" id="{343F5826-5C59-45C9-A0CF-9CFF368D366E}"/>
              </a:ext>
            </a:extLst>
          </p:cNvPr>
          <p:cNvGrpSpPr/>
          <p:nvPr/>
        </p:nvGrpSpPr>
        <p:grpSpPr>
          <a:xfrm>
            <a:off x="17946348" y="5728167"/>
            <a:ext cx="4626240" cy="795856"/>
            <a:chOff x="18224651" y="5787134"/>
            <a:chExt cx="3589288" cy="795858"/>
          </a:xfrm>
          <a:solidFill>
            <a:schemeClr val="accent2"/>
          </a:solidFill>
        </p:grpSpPr>
        <p:sp>
          <p:nvSpPr>
            <p:cNvPr id="58" name="MANAGER">
              <a:extLst>
                <a:ext uri="{FF2B5EF4-FFF2-40B4-BE49-F238E27FC236}">
                  <a16:creationId xmlns:a16="http://schemas.microsoft.com/office/drawing/2014/main" id="{A8096F5A-9FC9-4AA1-B772-AEE71FC53BE2}"/>
                </a:ext>
              </a:extLst>
            </p:cNvPr>
            <p:cNvSpPr/>
            <p:nvPr/>
          </p:nvSpPr>
          <p:spPr>
            <a:xfrm>
              <a:off x="19032968" y="6245461"/>
              <a:ext cx="2104155" cy="33753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grp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numCol="1" anchor="t">
              <a:spAutoFit/>
            </a:bodyPr>
            <a:lstStyle>
              <a:lvl1pPr defTabSz="457200">
                <a:lnSpc>
                  <a:spcPct val="120000"/>
                </a:lnSpc>
                <a:defRPr sz="1400" cap="all" spc="1120">
                  <a:solidFill>
                    <a:srgbClr val="242423"/>
                  </a:solidFill>
                  <a:latin typeface="Arial"/>
                  <a:ea typeface="Arial"/>
                  <a:cs typeface="Arial"/>
                  <a:sym typeface="Arial"/>
                </a:defRPr>
              </a:lvl1pPr>
            </a:lstStyle>
            <a:p>
              <a:endParaRPr sz="1401" dirty="0">
                <a:solidFill>
                  <a:schemeClr val="accent2"/>
                </a:solidFill>
                <a:latin typeface="Arial" panose="020B0604020202020204" pitchFamily="34" charset="0"/>
                <a:cs typeface="Arial" panose="020B0604020202020204" pitchFamily="34" charset="0"/>
              </a:endParaRPr>
            </a:p>
          </p:txBody>
        </p:sp>
        <p:sp>
          <p:nvSpPr>
            <p:cNvPr id="59" name="Loky Lee">
              <a:extLst>
                <a:ext uri="{FF2B5EF4-FFF2-40B4-BE49-F238E27FC236}">
                  <a16:creationId xmlns:a16="http://schemas.microsoft.com/office/drawing/2014/main" id="{06618301-2E81-4958-816A-C40CC43F2F1A}"/>
                </a:ext>
              </a:extLst>
            </p:cNvPr>
            <p:cNvSpPr/>
            <p:nvPr/>
          </p:nvSpPr>
          <p:spPr>
            <a:xfrm>
              <a:off x="18224651" y="5787134"/>
              <a:ext cx="3589288" cy="53361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grp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numCol="1" anchor="t">
              <a:spAutoFit/>
            </a:bodyPr>
            <a:lstStyle>
              <a:lvl1pPr defTabSz="457200">
                <a:defRPr sz="2800" b="0">
                  <a:solidFill>
                    <a:srgbClr val="242423"/>
                  </a:solidFill>
                  <a:latin typeface="Montserrat Bold"/>
                  <a:ea typeface="Montserrat Bold"/>
                  <a:cs typeface="Montserrat Bold"/>
                  <a:sym typeface="Montserrat Bold"/>
                </a:defRPr>
              </a:lvl1pPr>
            </a:lstStyle>
            <a:p>
              <a:endParaRPr lang="ru-RU" sz="2801" b="1" dirty="0">
                <a:solidFill>
                  <a:schemeClr val="accent2"/>
                </a:solidFill>
                <a:latin typeface="Arial" panose="020B0604020202020204" pitchFamily="34" charset="0"/>
                <a:cs typeface="Arial" panose="020B0604020202020204" pitchFamily="34" charset="0"/>
              </a:endParaRPr>
            </a:p>
          </p:txBody>
        </p:sp>
      </p:grpSp>
      <p:graphicFrame>
        <p:nvGraphicFramePr>
          <p:cNvPr id="2" name="Таблица 1">
            <a:extLst>
              <a:ext uri="{FF2B5EF4-FFF2-40B4-BE49-F238E27FC236}">
                <a16:creationId xmlns:a16="http://schemas.microsoft.com/office/drawing/2014/main" id="{F55A1777-B0A8-06AD-0449-A4E040DA2AE8}"/>
              </a:ext>
            </a:extLst>
          </p:cNvPr>
          <p:cNvGraphicFramePr>
            <a:graphicFrameLocks noGrp="1"/>
          </p:cNvGraphicFramePr>
          <p:nvPr>
            <p:extLst>
              <p:ext uri="{D42A27DB-BD31-4B8C-83A1-F6EECF244321}">
                <p14:modId xmlns:p14="http://schemas.microsoft.com/office/powerpoint/2010/main" val="96660363"/>
              </p:ext>
            </p:extLst>
          </p:nvPr>
        </p:nvGraphicFramePr>
        <p:xfrm>
          <a:off x="1" y="1747520"/>
          <a:ext cx="13573760" cy="11975840"/>
        </p:xfrm>
        <a:graphic>
          <a:graphicData uri="http://schemas.openxmlformats.org/drawingml/2006/table">
            <a:tbl>
              <a:tblPr firstRow="1" firstCol="1" bandRow="1">
                <a:tableStyleId>{5940675A-B579-460E-94D1-54222C63F5DA}</a:tableStyleId>
              </a:tblPr>
              <a:tblGrid>
                <a:gridCol w="3841372">
                  <a:extLst>
                    <a:ext uri="{9D8B030D-6E8A-4147-A177-3AD203B41FA5}">
                      <a16:colId xmlns:a16="http://schemas.microsoft.com/office/drawing/2014/main" val="3296224043"/>
                    </a:ext>
                  </a:extLst>
                </a:gridCol>
                <a:gridCol w="2045115">
                  <a:extLst>
                    <a:ext uri="{9D8B030D-6E8A-4147-A177-3AD203B41FA5}">
                      <a16:colId xmlns:a16="http://schemas.microsoft.com/office/drawing/2014/main" val="694801291"/>
                    </a:ext>
                  </a:extLst>
                </a:gridCol>
                <a:gridCol w="7687273">
                  <a:extLst>
                    <a:ext uri="{9D8B030D-6E8A-4147-A177-3AD203B41FA5}">
                      <a16:colId xmlns:a16="http://schemas.microsoft.com/office/drawing/2014/main" val="1552295970"/>
                    </a:ext>
                  </a:extLst>
                </a:gridCol>
              </a:tblGrid>
              <a:tr h="1241994">
                <a:tc>
                  <a:txBody>
                    <a:bodyPr/>
                    <a:lstStyle/>
                    <a:p>
                      <a:pPr>
                        <a:lnSpc>
                          <a:spcPct val="115000"/>
                        </a:lnSpc>
                        <a:spcAft>
                          <a:spcPts val="800"/>
                        </a:spcAft>
                      </a:pPr>
                      <a:r>
                        <a:rPr lang="ru-RU" sz="2800" b="1" kern="100" dirty="0">
                          <a:effectLst/>
                          <a:latin typeface="Arial" panose="020B0604020202020204" pitchFamily="34" charset="0"/>
                          <a:cs typeface="Arial" panose="020B0604020202020204" pitchFamily="34" charset="0"/>
                        </a:rPr>
                        <a:t>Название реквизита</a:t>
                      </a:r>
                      <a:endParaRPr lang="ru-RU" sz="2800" b="1"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b="1" kern="100" dirty="0">
                          <a:effectLst/>
                          <a:latin typeface="Arial" panose="020B0604020202020204" pitchFamily="34" charset="0"/>
                          <a:cs typeface="Arial" panose="020B0604020202020204" pitchFamily="34" charset="0"/>
                        </a:rPr>
                        <a:t>Тип реквизита</a:t>
                      </a:r>
                      <a:endParaRPr lang="ru-RU" sz="2800" b="1"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b="1" kern="100" dirty="0">
                          <a:effectLst/>
                          <a:latin typeface="Arial" panose="020B0604020202020204" pitchFamily="34" charset="0"/>
                          <a:cs typeface="Arial" panose="020B0604020202020204" pitchFamily="34" charset="0"/>
                        </a:rPr>
                        <a:t>Примечание</a:t>
                      </a:r>
                      <a:endParaRPr lang="ru-RU" sz="2800" b="1"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404680012"/>
                  </a:ext>
                </a:extLst>
              </a:tr>
              <a:tr h="164094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Наименование формы</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Текст: “Унифицированная форма № Т-3” Является идентификатором формы документа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442905499"/>
                  </a:ext>
                </a:extLst>
              </a:tr>
              <a:tr h="164094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Код формы по ОКУД</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Значение: 0301017. Идентификатор документа в общероссийском классификаторе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948220929"/>
                  </a:ext>
                </a:extLst>
              </a:tr>
              <a:tr h="1241994">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Наименование организации</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Значение: ООО «Орион». Идентифицирует автора документа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647093114"/>
                  </a:ext>
                </a:extLst>
              </a:tr>
              <a:tr h="1241994">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Код организации по ОКПО</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Значение: 00032537. Идентификатор организации в статическом регистре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4143989979"/>
                  </a:ext>
                </a:extLst>
              </a:tr>
              <a:tr h="1241994">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Номер документа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Значение: 1. Идентификатор документа в системе делопроизводства предприятия</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065061779"/>
                  </a:ext>
                </a:extLst>
              </a:tr>
              <a:tr h="1241994">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Дата составления</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 (дата)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Значение: 31.12.2023. Является датой, с которой документ вводится в действие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251252330"/>
                  </a:ext>
                </a:extLst>
              </a:tr>
              <a:tr h="1241994">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Дата и номер приказа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Текст: “Приказ от 31.12.2023 № ШР/24”. Подтверждает юридическую силу документа.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301848842"/>
                  </a:ext>
                </a:extLst>
              </a:tr>
              <a:tr h="1241994">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Штат в количестве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Значение: 4. Контрольная сумма(итог по количеству штатных единиц).</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141030798"/>
                  </a:ext>
                </a:extLst>
              </a:tr>
            </a:tbl>
          </a:graphicData>
        </a:graphic>
      </p:graphicFrame>
      <p:pic>
        <p:nvPicPr>
          <p:cNvPr id="3" name="Рисунок 2">
            <a:extLst>
              <a:ext uri="{FF2B5EF4-FFF2-40B4-BE49-F238E27FC236}">
                <a16:creationId xmlns:a16="http://schemas.microsoft.com/office/drawing/2014/main" id="{4B2855AD-FA2C-C1D1-C99A-1491E735D7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83069" y="3747025"/>
            <a:ext cx="10810239" cy="6939222"/>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C111D487-9DAF-7D07-DA39-A64A5C886CBD}"/>
              </a:ext>
            </a:extLst>
          </p:cNvPr>
          <p:cNvSpPr/>
          <p:nvPr/>
        </p:nvSpPr>
        <p:spPr>
          <a:xfrm>
            <a:off x="0" y="0"/>
            <a:ext cx="1357376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B9313BEC-C58D-3DA8-EB1C-F0A1201D9218}"/>
              </a:ext>
            </a:extLst>
          </p:cNvPr>
          <p:cNvSpPr txBox="1"/>
          <p:nvPr/>
        </p:nvSpPr>
        <p:spPr>
          <a:xfrm>
            <a:off x="825866" y="313866"/>
            <a:ext cx="14251573"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Реквизитный анализ документа</a:t>
            </a:r>
          </a:p>
        </p:txBody>
      </p:sp>
      <p:sp>
        <p:nvSpPr>
          <p:cNvPr id="7" name="TextBox 6">
            <a:extLst>
              <a:ext uri="{FF2B5EF4-FFF2-40B4-BE49-F238E27FC236}">
                <a16:creationId xmlns:a16="http://schemas.microsoft.com/office/drawing/2014/main" id="{AFAE0328-48CF-511E-1DBC-6E3DC8F04644}"/>
              </a:ext>
            </a:extLst>
          </p:cNvPr>
          <p:cNvSpPr txBox="1"/>
          <p:nvPr/>
        </p:nvSpPr>
        <p:spPr>
          <a:xfrm>
            <a:off x="0" y="1994921"/>
            <a:ext cx="12192000" cy="5457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spcAft>
                <a:spcPts val="800"/>
              </a:spcAft>
            </a:pPr>
            <a:r>
              <a:rPr lang="ru-RU" sz="2800" kern="100" dirty="0">
                <a:effectLst/>
                <a:latin typeface="Arial" panose="020B0604020202020204" pitchFamily="34" charset="0"/>
                <a:ea typeface="SimSun" panose="02010600030101010101" pitchFamily="2" charset="-122"/>
                <a:cs typeface="Arial" panose="020B0604020202020204" pitchFamily="34" charset="0"/>
              </a:rPr>
              <a:t>Табличная часть документа:</a:t>
            </a:r>
          </a:p>
        </p:txBody>
      </p:sp>
      <p:graphicFrame>
        <p:nvGraphicFramePr>
          <p:cNvPr id="8" name="Таблица 7">
            <a:extLst>
              <a:ext uri="{FF2B5EF4-FFF2-40B4-BE49-F238E27FC236}">
                <a16:creationId xmlns:a16="http://schemas.microsoft.com/office/drawing/2014/main" id="{8B15FB48-6D7E-DB9C-643A-800FB2465DCD}"/>
              </a:ext>
            </a:extLst>
          </p:cNvPr>
          <p:cNvGraphicFramePr>
            <a:graphicFrameLocks noGrp="1"/>
          </p:cNvGraphicFramePr>
          <p:nvPr>
            <p:extLst>
              <p:ext uri="{D42A27DB-BD31-4B8C-83A1-F6EECF244321}">
                <p14:modId xmlns:p14="http://schemas.microsoft.com/office/powerpoint/2010/main" val="2446013732"/>
              </p:ext>
            </p:extLst>
          </p:nvPr>
        </p:nvGraphicFramePr>
        <p:xfrm>
          <a:off x="0" y="2564529"/>
          <a:ext cx="11785600" cy="11109755"/>
        </p:xfrm>
        <a:graphic>
          <a:graphicData uri="http://schemas.openxmlformats.org/drawingml/2006/table">
            <a:tbl>
              <a:tblPr firstRow="1" firstCol="1" bandRow="1">
                <a:tableStyleId>{5940675A-B579-460E-94D1-54222C63F5DA}</a:tableStyleId>
              </a:tblPr>
              <a:tblGrid>
                <a:gridCol w="1071990">
                  <a:extLst>
                    <a:ext uri="{9D8B030D-6E8A-4147-A177-3AD203B41FA5}">
                      <a16:colId xmlns:a16="http://schemas.microsoft.com/office/drawing/2014/main" val="2982361128"/>
                    </a:ext>
                  </a:extLst>
                </a:gridCol>
                <a:gridCol w="4073568">
                  <a:extLst>
                    <a:ext uri="{9D8B030D-6E8A-4147-A177-3AD203B41FA5}">
                      <a16:colId xmlns:a16="http://schemas.microsoft.com/office/drawing/2014/main" val="375886581"/>
                    </a:ext>
                  </a:extLst>
                </a:gridCol>
                <a:gridCol w="1688702">
                  <a:extLst>
                    <a:ext uri="{9D8B030D-6E8A-4147-A177-3AD203B41FA5}">
                      <a16:colId xmlns:a16="http://schemas.microsoft.com/office/drawing/2014/main" val="1037532529"/>
                    </a:ext>
                  </a:extLst>
                </a:gridCol>
                <a:gridCol w="4951340">
                  <a:extLst>
                    <a:ext uri="{9D8B030D-6E8A-4147-A177-3AD203B41FA5}">
                      <a16:colId xmlns:a16="http://schemas.microsoft.com/office/drawing/2014/main" val="1852599613"/>
                    </a:ext>
                  </a:extLst>
                </a:gridCol>
              </a:tblGrid>
              <a:tr h="1525075">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 графы</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Название реквизита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Тип реквизита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Пример данных</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450930438"/>
                  </a:ext>
                </a:extLst>
              </a:tr>
              <a:tr h="1525075">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1</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Наименование структурного подразделения</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Администрация / Отдел продаж / Цех №1</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035210647"/>
                  </a:ext>
                </a:extLst>
              </a:tr>
              <a:tr h="100189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2</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Код структурного подразделения</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01 , 02 , 03</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455030741"/>
                  </a:ext>
                </a:extLst>
              </a:tr>
              <a:tr h="100189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3</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Должность</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Генеральный директор / бухгалтер / менеджер</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4091037896"/>
                  </a:ext>
                </a:extLst>
              </a:tr>
              <a:tr h="100189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4</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Количество штатных единиц</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1</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334127890"/>
                  </a:ext>
                </a:extLst>
              </a:tr>
              <a:tr h="100189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5</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Тарифная ставка (оклад) и пр., руб.</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85000 / 50000 / 45000 / 48000</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048178940"/>
                  </a:ext>
                </a:extLst>
              </a:tr>
              <a:tr h="1525075">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6-8</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Надбавки, руб.</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Во всех строка пусто, следовательно, значение = 0.</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293830978"/>
                  </a:ext>
                </a:extLst>
              </a:tr>
              <a:tr h="204826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9</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Всего в месяц, руб</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85000.00, 50000.00, 45000.00, 48000.00 (расчетный реквизит: гр.5+6+7+8)</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823917621"/>
                  </a:ext>
                </a:extLst>
              </a:tr>
              <a:tr h="478706">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10</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Примечание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739845567"/>
                  </a:ext>
                </a:extLst>
              </a:tr>
            </a:tbl>
          </a:graphicData>
        </a:graphic>
      </p:graphicFrame>
      <p:pic>
        <p:nvPicPr>
          <p:cNvPr id="9" name="Рисунок 8">
            <a:extLst>
              <a:ext uri="{FF2B5EF4-FFF2-40B4-BE49-F238E27FC236}">
                <a16:creationId xmlns:a16="http://schemas.microsoft.com/office/drawing/2014/main" id="{DC040665-2229-1BAC-72F3-AFAAB3703D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92001" y="3388388"/>
            <a:ext cx="12018428" cy="7714773"/>
          </a:xfrm>
          <a:prstGeom prst="rect">
            <a:avLst/>
          </a:prstGeom>
        </p:spPr>
      </p:pic>
    </p:spTree>
    <p:extLst>
      <p:ext uri="{BB962C8B-B14F-4D97-AF65-F5344CB8AC3E}">
        <p14:creationId xmlns:p14="http://schemas.microsoft.com/office/powerpoint/2010/main" val="230090537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C111D487-9DAF-7D07-DA39-A64A5C886CBD}"/>
              </a:ext>
            </a:extLst>
          </p:cNvPr>
          <p:cNvSpPr/>
          <p:nvPr/>
        </p:nvSpPr>
        <p:spPr>
          <a:xfrm>
            <a:off x="0" y="0"/>
            <a:ext cx="1357376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B9313BEC-C58D-3DA8-EB1C-F0A1201D9218}"/>
              </a:ext>
            </a:extLst>
          </p:cNvPr>
          <p:cNvSpPr txBox="1"/>
          <p:nvPr/>
        </p:nvSpPr>
        <p:spPr>
          <a:xfrm>
            <a:off x="825866" y="313866"/>
            <a:ext cx="14251573"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Реквизитный анализ документа</a:t>
            </a:r>
          </a:p>
        </p:txBody>
      </p:sp>
      <p:sp>
        <p:nvSpPr>
          <p:cNvPr id="7" name="TextBox 6">
            <a:extLst>
              <a:ext uri="{FF2B5EF4-FFF2-40B4-BE49-F238E27FC236}">
                <a16:creationId xmlns:a16="http://schemas.microsoft.com/office/drawing/2014/main" id="{AFAE0328-48CF-511E-1DBC-6E3DC8F04644}"/>
              </a:ext>
            </a:extLst>
          </p:cNvPr>
          <p:cNvSpPr txBox="1"/>
          <p:nvPr/>
        </p:nvSpPr>
        <p:spPr>
          <a:xfrm>
            <a:off x="0" y="1994921"/>
            <a:ext cx="12192000" cy="5457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spcAft>
                <a:spcPts val="800"/>
              </a:spcAft>
            </a:pPr>
            <a:r>
              <a:rPr lang="ru-RU" sz="2800" kern="100">
                <a:effectLst/>
                <a:latin typeface="Arial" panose="020B0604020202020204" pitchFamily="34" charset="0"/>
                <a:ea typeface="SimSun" panose="02010600030101010101" pitchFamily="2" charset="-122"/>
                <a:cs typeface="Arial" panose="020B0604020202020204" pitchFamily="34" charset="0"/>
              </a:rPr>
              <a:t>Подписи и оформительная часть:</a:t>
            </a:r>
          </a:p>
        </p:txBody>
      </p:sp>
      <p:pic>
        <p:nvPicPr>
          <p:cNvPr id="9" name="Рисунок 8">
            <a:extLst>
              <a:ext uri="{FF2B5EF4-FFF2-40B4-BE49-F238E27FC236}">
                <a16:creationId xmlns:a16="http://schemas.microsoft.com/office/drawing/2014/main" id="{DC040665-2229-1BAC-72F3-AFAAB3703D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41760" y="3388388"/>
            <a:ext cx="12668669" cy="8132170"/>
          </a:xfrm>
          <a:prstGeom prst="rect">
            <a:avLst/>
          </a:prstGeom>
        </p:spPr>
      </p:pic>
      <p:sp>
        <p:nvSpPr>
          <p:cNvPr id="3" name="TextBox 2">
            <a:extLst>
              <a:ext uri="{FF2B5EF4-FFF2-40B4-BE49-F238E27FC236}">
                <a16:creationId xmlns:a16="http://schemas.microsoft.com/office/drawing/2014/main" id="{9B672061-7A57-5093-1216-EF7F7AFDC012}"/>
              </a:ext>
            </a:extLst>
          </p:cNvPr>
          <p:cNvSpPr txBox="1"/>
          <p:nvPr/>
        </p:nvSpPr>
        <p:spPr>
          <a:xfrm>
            <a:off x="9164320" y="1955606"/>
            <a:ext cx="12192000" cy="1189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spcAft>
                <a:spcPts val="800"/>
              </a:spcAft>
            </a:pPr>
            <a:r>
              <a:rPr lang="ru-RU" sz="3200" kern="100" dirty="0">
                <a:effectLst/>
                <a:latin typeface="Times New Roman" panose="02020603050405020304" pitchFamily="18" charset="0"/>
                <a:ea typeface="SimSun" panose="02010600030101010101" pitchFamily="2" charset="-122"/>
                <a:cs typeface="Times New Roman" panose="02020603050405020304" pitchFamily="18" charset="0"/>
              </a:rPr>
              <a:t>Служит для подтверждения достоверности данных и содержит информацию об ответственном лице.</a:t>
            </a:r>
            <a:endParaRPr lang="ru-RU" sz="3200" kern="100" dirty="0">
              <a:effectLst/>
              <a:latin typeface="Calibri" panose="020F0502020204030204" pitchFamily="34" charset="0"/>
              <a:ea typeface="SimSun" panose="02010600030101010101" pitchFamily="2" charset="-122"/>
              <a:cs typeface="Times New Roman" panose="02020603050405020304" pitchFamily="18" charset="0"/>
            </a:endParaRPr>
          </a:p>
        </p:txBody>
      </p:sp>
      <p:graphicFrame>
        <p:nvGraphicFramePr>
          <p:cNvPr id="6" name="Таблица 5">
            <a:extLst>
              <a:ext uri="{FF2B5EF4-FFF2-40B4-BE49-F238E27FC236}">
                <a16:creationId xmlns:a16="http://schemas.microsoft.com/office/drawing/2014/main" id="{036536F7-010D-6DB3-37B8-753110399D62}"/>
              </a:ext>
            </a:extLst>
          </p:cNvPr>
          <p:cNvGraphicFramePr>
            <a:graphicFrameLocks noGrp="1"/>
          </p:cNvGraphicFramePr>
          <p:nvPr>
            <p:extLst>
              <p:ext uri="{D42A27DB-BD31-4B8C-83A1-F6EECF244321}">
                <p14:modId xmlns:p14="http://schemas.microsoft.com/office/powerpoint/2010/main" val="4233506293"/>
              </p:ext>
            </p:extLst>
          </p:nvPr>
        </p:nvGraphicFramePr>
        <p:xfrm>
          <a:off x="0" y="3141918"/>
          <a:ext cx="11054079" cy="10574082"/>
        </p:xfrm>
        <a:graphic>
          <a:graphicData uri="http://schemas.openxmlformats.org/drawingml/2006/table">
            <a:tbl>
              <a:tblPr firstRow="1" firstCol="1" bandRow="1">
                <a:tableStyleId>{5940675A-B579-460E-94D1-54222C63F5DA}</a:tableStyleId>
              </a:tblPr>
              <a:tblGrid>
                <a:gridCol w="3347570">
                  <a:extLst>
                    <a:ext uri="{9D8B030D-6E8A-4147-A177-3AD203B41FA5}">
                      <a16:colId xmlns:a16="http://schemas.microsoft.com/office/drawing/2014/main" val="1277510033"/>
                    </a:ext>
                  </a:extLst>
                </a:gridCol>
                <a:gridCol w="2180061">
                  <a:extLst>
                    <a:ext uri="{9D8B030D-6E8A-4147-A177-3AD203B41FA5}">
                      <a16:colId xmlns:a16="http://schemas.microsoft.com/office/drawing/2014/main" val="4151698891"/>
                    </a:ext>
                  </a:extLst>
                </a:gridCol>
                <a:gridCol w="5526448">
                  <a:extLst>
                    <a:ext uri="{9D8B030D-6E8A-4147-A177-3AD203B41FA5}">
                      <a16:colId xmlns:a16="http://schemas.microsoft.com/office/drawing/2014/main" val="621108963"/>
                    </a:ext>
                  </a:extLst>
                </a:gridCol>
              </a:tblGrid>
              <a:tr h="1038959">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Название реквизита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Тип реквизита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Примечание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340079573"/>
                  </a:ext>
                </a:extLst>
              </a:tr>
              <a:tr h="212404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Должность руководителя кадровой службы</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Текст: “Руководитель кадровой службы”. Идентифицирует должность подписанта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551687229"/>
                  </a:ext>
                </a:extLst>
              </a:tr>
              <a:tr h="212404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Личная подпись</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Не подлежит вводу в БД</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Ручная подпись. Не хранится как данные, может быть отсканирована как образ.</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334979822"/>
                  </a:ext>
                </a:extLst>
              </a:tr>
              <a:tr h="158150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Расшифровка подписи (Фамилия)</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Значение: Карпова Н.Ф. Идентифицирует личность подписанта.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421986059"/>
                  </a:ext>
                </a:extLst>
              </a:tr>
              <a:tr h="158150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Должность главного бухгалтера</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Текст: </a:t>
                      </a:r>
                      <a:r>
                        <a:rPr lang="en-US" sz="2800" kern="100">
                          <a:effectLst/>
                          <a:latin typeface="Arial" panose="020B0604020202020204" pitchFamily="34" charset="0"/>
                          <a:cs typeface="Arial" panose="020B0604020202020204" pitchFamily="34" charset="0"/>
                        </a:rPr>
                        <a:t>“</a:t>
                      </a:r>
                      <a:r>
                        <a:rPr lang="ru-RU" sz="2800" kern="100">
                          <a:effectLst/>
                          <a:latin typeface="Arial" panose="020B0604020202020204" pitchFamily="34" charset="0"/>
                          <a:cs typeface="Arial" panose="020B0604020202020204" pitchFamily="34" charset="0"/>
                        </a:rPr>
                        <a:t>Главный бухгалтер</a:t>
                      </a:r>
                      <a:r>
                        <a:rPr lang="en-US" sz="2800" kern="100">
                          <a:effectLst/>
                          <a:latin typeface="Arial" panose="020B0604020202020204" pitchFamily="34" charset="0"/>
                          <a:cs typeface="Arial" panose="020B0604020202020204" pitchFamily="34" charset="0"/>
                        </a:rPr>
                        <a:t>”</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594336186"/>
                  </a:ext>
                </a:extLst>
              </a:tr>
              <a:tr h="2124041">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Личная подпись</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Не подлежит вводу в БД</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Ручная подпись.</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959678104"/>
                  </a:ext>
                </a:extLst>
              </a:tr>
            </a:tbl>
          </a:graphicData>
        </a:graphic>
      </p:graphicFrame>
    </p:spTree>
    <p:extLst>
      <p:ext uri="{BB962C8B-B14F-4D97-AF65-F5344CB8AC3E}">
        <p14:creationId xmlns:p14="http://schemas.microsoft.com/office/powerpoint/2010/main" val="44847388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C111D487-9DAF-7D07-DA39-A64A5C886CBD}"/>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B9313BEC-C58D-3DA8-EB1C-F0A1201D9218}"/>
              </a:ext>
            </a:extLst>
          </p:cNvPr>
          <p:cNvSpPr txBox="1"/>
          <p:nvPr/>
        </p:nvSpPr>
        <p:spPr>
          <a:xfrm>
            <a:off x="480426" y="332453"/>
            <a:ext cx="16832214"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a:solidFill>
                  <a:schemeClr val="bg1"/>
                </a:solidFill>
                <a:effectLst/>
                <a:latin typeface="Arial" panose="020B0604020202020204" pitchFamily="34" charset="0"/>
                <a:ea typeface="SimSun" panose="02010600030101010101" pitchFamily="2" charset="-122"/>
                <a:cs typeface="Arial" panose="020B0604020202020204" pitchFamily="34" charset="0"/>
              </a:rPr>
              <a:t>Финансовые и экономические реквизиты</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9" name="Рисунок 8">
            <a:extLst>
              <a:ext uri="{FF2B5EF4-FFF2-40B4-BE49-F238E27FC236}">
                <a16:creationId xmlns:a16="http://schemas.microsoft.com/office/drawing/2014/main" id="{DC040665-2229-1BAC-72F3-AFAAB3703D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41760" y="2017721"/>
            <a:ext cx="12668669" cy="8132170"/>
          </a:xfrm>
          <a:prstGeom prst="rect">
            <a:avLst/>
          </a:prstGeom>
        </p:spPr>
      </p:pic>
      <p:graphicFrame>
        <p:nvGraphicFramePr>
          <p:cNvPr id="2" name="Таблица 1">
            <a:extLst>
              <a:ext uri="{FF2B5EF4-FFF2-40B4-BE49-F238E27FC236}">
                <a16:creationId xmlns:a16="http://schemas.microsoft.com/office/drawing/2014/main" id="{E69429B5-0046-F1AC-E3B7-00F7B94B80D9}"/>
              </a:ext>
            </a:extLst>
          </p:cNvPr>
          <p:cNvGraphicFramePr>
            <a:graphicFrameLocks noGrp="1"/>
          </p:cNvGraphicFramePr>
          <p:nvPr>
            <p:extLst>
              <p:ext uri="{D42A27DB-BD31-4B8C-83A1-F6EECF244321}">
                <p14:modId xmlns:p14="http://schemas.microsoft.com/office/powerpoint/2010/main" val="4100370535"/>
              </p:ext>
            </p:extLst>
          </p:nvPr>
        </p:nvGraphicFramePr>
        <p:xfrm>
          <a:off x="1091973" y="2278044"/>
          <a:ext cx="9759950" cy="2286764"/>
        </p:xfrm>
        <a:graphic>
          <a:graphicData uri="http://schemas.openxmlformats.org/drawingml/2006/table">
            <a:tbl>
              <a:tblPr firstRow="1" firstCol="1" bandRow="1">
                <a:tableStyleId>{5940675A-B579-460E-94D1-54222C63F5DA}</a:tableStyleId>
              </a:tblPr>
              <a:tblGrid>
                <a:gridCol w="4092775">
                  <a:extLst>
                    <a:ext uri="{9D8B030D-6E8A-4147-A177-3AD203B41FA5}">
                      <a16:colId xmlns:a16="http://schemas.microsoft.com/office/drawing/2014/main" val="4275786942"/>
                    </a:ext>
                  </a:extLst>
                </a:gridCol>
                <a:gridCol w="2521709">
                  <a:extLst>
                    <a:ext uri="{9D8B030D-6E8A-4147-A177-3AD203B41FA5}">
                      <a16:colId xmlns:a16="http://schemas.microsoft.com/office/drawing/2014/main" val="3206466429"/>
                    </a:ext>
                  </a:extLst>
                </a:gridCol>
                <a:gridCol w="3145466">
                  <a:extLst>
                    <a:ext uri="{9D8B030D-6E8A-4147-A177-3AD203B41FA5}">
                      <a16:colId xmlns:a16="http://schemas.microsoft.com/office/drawing/2014/main" val="2832623156"/>
                    </a:ext>
                  </a:extLst>
                </a:gridCol>
              </a:tblGrid>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Реквизит</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Тип</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Значение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346750484"/>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Дата составления</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Признак(дата)</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31.12.2023</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259114506"/>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Номер приказа об утверждении</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 ШР/24</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196825181"/>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Штатная численность</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4 единицы</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322888287"/>
                  </a:ext>
                </a:extLst>
              </a:tr>
            </a:tbl>
          </a:graphicData>
        </a:graphic>
      </p:graphicFrame>
      <p:graphicFrame>
        <p:nvGraphicFramePr>
          <p:cNvPr id="8" name="Таблица 7">
            <a:extLst>
              <a:ext uri="{FF2B5EF4-FFF2-40B4-BE49-F238E27FC236}">
                <a16:creationId xmlns:a16="http://schemas.microsoft.com/office/drawing/2014/main" id="{F67A97B6-11D6-FCBC-E9AF-58E785A183DB}"/>
              </a:ext>
            </a:extLst>
          </p:cNvPr>
          <p:cNvGraphicFramePr>
            <a:graphicFrameLocks noGrp="1"/>
          </p:cNvGraphicFramePr>
          <p:nvPr>
            <p:extLst>
              <p:ext uri="{D42A27DB-BD31-4B8C-83A1-F6EECF244321}">
                <p14:modId xmlns:p14="http://schemas.microsoft.com/office/powerpoint/2010/main" val="1207383029"/>
              </p:ext>
            </p:extLst>
          </p:nvPr>
        </p:nvGraphicFramePr>
        <p:xfrm>
          <a:off x="480426" y="6087993"/>
          <a:ext cx="11139623" cy="3717229"/>
        </p:xfrm>
        <a:graphic>
          <a:graphicData uri="http://schemas.openxmlformats.org/drawingml/2006/table">
            <a:tbl>
              <a:tblPr firstRow="1" firstCol="1" bandRow="1">
                <a:tableStyleId>{5940675A-B579-460E-94D1-54222C63F5DA}</a:tableStyleId>
              </a:tblPr>
              <a:tblGrid>
                <a:gridCol w="4049363">
                  <a:extLst>
                    <a:ext uri="{9D8B030D-6E8A-4147-A177-3AD203B41FA5}">
                      <a16:colId xmlns:a16="http://schemas.microsoft.com/office/drawing/2014/main" val="2696897051"/>
                    </a:ext>
                  </a:extLst>
                </a:gridCol>
                <a:gridCol w="1987809">
                  <a:extLst>
                    <a:ext uri="{9D8B030D-6E8A-4147-A177-3AD203B41FA5}">
                      <a16:colId xmlns:a16="http://schemas.microsoft.com/office/drawing/2014/main" val="3320345558"/>
                    </a:ext>
                  </a:extLst>
                </a:gridCol>
                <a:gridCol w="5102451">
                  <a:extLst>
                    <a:ext uri="{9D8B030D-6E8A-4147-A177-3AD203B41FA5}">
                      <a16:colId xmlns:a16="http://schemas.microsoft.com/office/drawing/2014/main" val="2938114105"/>
                    </a:ext>
                  </a:extLst>
                </a:gridCol>
              </a:tblGrid>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Наименование графы</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Тип</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Пояснение</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1668316129"/>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Тарифная ставка (оклад), руб.</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85000, 50000, 45000,48000</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86450539"/>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Надбавки, руб.</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0.00 (пустые поля=отсутствие надбавок)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753429435"/>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Всего в месяц, руб.</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85000, 50000, 45000, 48000</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829877898"/>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Кол-во штатных единиц</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1</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902245358"/>
                  </a:ext>
                </a:extLst>
              </a:tr>
            </a:tbl>
          </a:graphicData>
        </a:graphic>
      </p:graphicFrame>
      <p:sp>
        <p:nvSpPr>
          <p:cNvPr id="11" name="TextBox 10">
            <a:extLst>
              <a:ext uri="{FF2B5EF4-FFF2-40B4-BE49-F238E27FC236}">
                <a16:creationId xmlns:a16="http://schemas.microsoft.com/office/drawing/2014/main" id="{7743CABA-3395-CEF6-AE62-CA9996224D55}"/>
              </a:ext>
            </a:extLst>
          </p:cNvPr>
          <p:cNvSpPr txBox="1"/>
          <p:nvPr/>
        </p:nvSpPr>
        <p:spPr>
          <a:xfrm>
            <a:off x="-124052" y="5312676"/>
            <a:ext cx="12192000" cy="6227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spcAft>
                <a:spcPts val="800"/>
              </a:spcAft>
            </a:pPr>
            <a:r>
              <a:rPr lang="ru-RU" sz="3200" kern="100" dirty="0">
                <a:effectLst/>
                <a:latin typeface="Times New Roman" panose="02020603050405020304" pitchFamily="18" charset="0"/>
                <a:ea typeface="SimSun" panose="02010600030101010101" pitchFamily="2" charset="-122"/>
                <a:cs typeface="Times New Roman" panose="02020603050405020304" pitchFamily="18" charset="0"/>
              </a:rPr>
              <a:t>Табличная часть (основные финансовые показатели):</a:t>
            </a:r>
            <a:endParaRPr lang="ru-RU" sz="3200" kern="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13" name="TextBox 12">
            <a:extLst>
              <a:ext uri="{FF2B5EF4-FFF2-40B4-BE49-F238E27FC236}">
                <a16:creationId xmlns:a16="http://schemas.microsoft.com/office/drawing/2014/main" id="{1AAFD560-8A41-ACDE-9D61-7681160A96FD}"/>
              </a:ext>
            </a:extLst>
          </p:cNvPr>
          <p:cNvSpPr txBox="1"/>
          <p:nvPr/>
        </p:nvSpPr>
        <p:spPr>
          <a:xfrm>
            <a:off x="-76243" y="9951577"/>
            <a:ext cx="12252960" cy="6227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spcAft>
                <a:spcPts val="800"/>
              </a:spcAft>
            </a:pPr>
            <a:r>
              <a:rPr lang="ru-RU" sz="3200" kern="100" dirty="0">
                <a:effectLst/>
                <a:latin typeface="Times New Roman" panose="02020603050405020304" pitchFamily="18" charset="0"/>
                <a:ea typeface="SimSun" panose="02010600030101010101" pitchFamily="2" charset="-122"/>
                <a:cs typeface="Times New Roman" panose="02020603050405020304" pitchFamily="18" charset="0"/>
              </a:rPr>
              <a:t>Итоговые и учетные показатели:</a:t>
            </a:r>
            <a:endParaRPr lang="ru-RU" sz="3200" kern="100" dirty="0">
              <a:effectLst/>
              <a:latin typeface="Calibri" panose="020F0502020204030204" pitchFamily="34" charset="0"/>
              <a:ea typeface="SimSun" panose="02010600030101010101" pitchFamily="2" charset="-122"/>
              <a:cs typeface="Times New Roman" panose="02020603050405020304" pitchFamily="18" charset="0"/>
            </a:endParaRPr>
          </a:p>
        </p:txBody>
      </p:sp>
      <p:graphicFrame>
        <p:nvGraphicFramePr>
          <p:cNvPr id="14" name="Таблица 13">
            <a:extLst>
              <a:ext uri="{FF2B5EF4-FFF2-40B4-BE49-F238E27FC236}">
                <a16:creationId xmlns:a16="http://schemas.microsoft.com/office/drawing/2014/main" id="{434C80F7-37A6-CFCE-6B50-85FB9CFFBA1D}"/>
              </a:ext>
            </a:extLst>
          </p:cNvPr>
          <p:cNvGraphicFramePr>
            <a:graphicFrameLocks noGrp="1"/>
          </p:cNvGraphicFramePr>
          <p:nvPr>
            <p:extLst>
              <p:ext uri="{D42A27DB-BD31-4B8C-83A1-F6EECF244321}">
                <p14:modId xmlns:p14="http://schemas.microsoft.com/office/powerpoint/2010/main" val="3110269273"/>
              </p:ext>
            </p:extLst>
          </p:nvPr>
        </p:nvGraphicFramePr>
        <p:xfrm>
          <a:off x="357494" y="10578330"/>
          <a:ext cx="14272905" cy="2735773"/>
        </p:xfrm>
        <a:graphic>
          <a:graphicData uri="http://schemas.openxmlformats.org/drawingml/2006/table">
            <a:tbl>
              <a:tblPr firstRow="1" firstCol="1" bandRow="1">
                <a:tableStyleId>{5940675A-B579-460E-94D1-54222C63F5DA}</a:tableStyleId>
              </a:tblPr>
              <a:tblGrid>
                <a:gridCol w="4713230">
                  <a:extLst>
                    <a:ext uri="{9D8B030D-6E8A-4147-A177-3AD203B41FA5}">
                      <a16:colId xmlns:a16="http://schemas.microsoft.com/office/drawing/2014/main" val="3313499661"/>
                    </a:ext>
                  </a:extLst>
                </a:gridCol>
                <a:gridCol w="2150451">
                  <a:extLst>
                    <a:ext uri="{9D8B030D-6E8A-4147-A177-3AD203B41FA5}">
                      <a16:colId xmlns:a16="http://schemas.microsoft.com/office/drawing/2014/main" val="4011186120"/>
                    </a:ext>
                  </a:extLst>
                </a:gridCol>
                <a:gridCol w="7409224">
                  <a:extLst>
                    <a:ext uri="{9D8B030D-6E8A-4147-A177-3AD203B41FA5}">
                      <a16:colId xmlns:a16="http://schemas.microsoft.com/office/drawing/2014/main" val="3876486814"/>
                    </a:ext>
                  </a:extLst>
                </a:gridCol>
              </a:tblGrid>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Реквизит</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Тип</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Примечание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714036325"/>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Фонд оплаты труда (месячный)</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Можно рассчитать как сумму по графе 9:85000+50000+45000+48000=228000 руб.</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687261708"/>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Штатная численность</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4 ед.(подтверждается итогом шапки)</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28967204"/>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Должностные оклады</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Основание</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Первичные суммовые показатели</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3650737788"/>
                  </a:ext>
                </a:extLst>
              </a:tr>
              <a:tr h="0">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Наличие надбавок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a:effectLst/>
                          <a:latin typeface="Arial" panose="020B0604020202020204" pitchFamily="34" charset="0"/>
                          <a:cs typeface="Arial" panose="020B0604020202020204" pitchFamily="34" charset="0"/>
                        </a:rPr>
                        <a:t>Признак</a:t>
                      </a:r>
                      <a:endParaRPr lang="ru-RU" sz="2800" kern="10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tc>
                  <a:txBody>
                    <a:bodyPr/>
                    <a:lstStyle/>
                    <a:p>
                      <a:pPr>
                        <a:lnSpc>
                          <a:spcPct val="115000"/>
                        </a:lnSpc>
                        <a:spcAft>
                          <a:spcPts val="800"/>
                        </a:spcAft>
                      </a:pPr>
                      <a:r>
                        <a:rPr lang="ru-RU" sz="2800" kern="100" dirty="0">
                          <a:effectLst/>
                          <a:latin typeface="Arial" panose="020B0604020202020204" pitchFamily="34" charset="0"/>
                          <a:cs typeface="Arial" panose="020B0604020202020204" pitchFamily="34" charset="0"/>
                        </a:rPr>
                        <a:t>Отсутствуют (все поля пустые)</a:t>
                      </a:r>
                      <a:endParaRPr lang="ru-RU" sz="2800" kern="100" dirty="0">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tc>
                <a:extLst>
                  <a:ext uri="{0D108BD9-81ED-4DB2-BD59-A6C34878D82A}">
                    <a16:rowId xmlns:a16="http://schemas.microsoft.com/office/drawing/2014/main" val="2890692896"/>
                  </a:ext>
                </a:extLst>
              </a:tr>
            </a:tbl>
          </a:graphicData>
        </a:graphic>
      </p:graphicFrame>
    </p:spTree>
    <p:extLst>
      <p:ext uri="{BB962C8B-B14F-4D97-AF65-F5344CB8AC3E}">
        <p14:creationId xmlns:p14="http://schemas.microsoft.com/office/powerpoint/2010/main" val="45939034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C111D487-9DAF-7D07-DA39-A64A5C886CBD}"/>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B9313BEC-C58D-3DA8-EB1C-F0A1201D9218}"/>
              </a:ext>
            </a:extLst>
          </p:cNvPr>
          <p:cNvSpPr txBox="1"/>
          <p:nvPr/>
        </p:nvSpPr>
        <p:spPr>
          <a:xfrm>
            <a:off x="480426" y="-152518"/>
            <a:ext cx="16832214" cy="21359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a:solidFill>
                  <a:schemeClr val="bg1"/>
                </a:solidFill>
                <a:effectLst/>
                <a:latin typeface="Arial" panose="020B0604020202020204" pitchFamily="34" charset="0"/>
                <a:ea typeface="SimSun" panose="02010600030101010101" pitchFamily="2" charset="-122"/>
                <a:cs typeface="Arial" panose="020B0604020202020204" pitchFamily="34" charset="0"/>
              </a:rPr>
              <a:t>Полное описание работы с этим документом инф-ция из интернета</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6" name="TextBox 5">
            <a:extLst>
              <a:ext uri="{FF2B5EF4-FFF2-40B4-BE49-F238E27FC236}">
                <a16:creationId xmlns:a16="http://schemas.microsoft.com/office/drawing/2014/main" id="{74C1C763-F21B-D2BB-0DEC-4D58DE697024}"/>
              </a:ext>
            </a:extLst>
          </p:cNvPr>
          <p:cNvSpPr txBox="1"/>
          <p:nvPr/>
        </p:nvSpPr>
        <p:spPr>
          <a:xfrm>
            <a:off x="12192000" y="12164596"/>
            <a:ext cx="12192000" cy="1294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5000"/>
              </a:lnSpc>
              <a:spcAft>
                <a:spcPts val="800"/>
              </a:spcAft>
            </a:pPr>
            <a:r>
              <a:rPr lang="ru-RU" sz="3200" u="sng" kern="100" dirty="0">
                <a:solidFill>
                  <a:srgbClr val="0563C1"/>
                </a:solidFill>
                <a:effectLst/>
                <a:latin typeface="Calibri" panose="020F0502020204030204" pitchFamily="34" charset="0"/>
                <a:ea typeface="SimSun" panose="02010600030101010101" pitchFamily="2" charset="-122"/>
                <a:cs typeface="Times New Roman" panose="02020603050405020304" pitchFamily="18" charset="0"/>
                <a:hlinkClick r:id="rId2"/>
              </a:rPr>
              <a:t>https://www.profiz.ru/peo/1_2018/shtatnoje_raspisanije/</a:t>
            </a:r>
            <a:endParaRPr lang="ru-RU" sz="3200" kern="100" dirty="0">
              <a:effectLst/>
              <a:latin typeface="Calibri" panose="020F0502020204030204" pitchFamily="34" charset="0"/>
              <a:ea typeface="SimSun" panose="02010600030101010101" pitchFamily="2" charset="-122"/>
              <a:cs typeface="Times New Roman" panose="02020603050405020304" pitchFamily="18" charset="0"/>
            </a:endParaRPr>
          </a:p>
          <a:p>
            <a:pPr>
              <a:lnSpc>
                <a:spcPct val="115000"/>
              </a:lnSpc>
              <a:spcAft>
                <a:spcPts val="800"/>
              </a:spcAft>
            </a:pPr>
            <a:r>
              <a:rPr lang="ru-RU" sz="3200" u="sng" kern="100" dirty="0">
                <a:solidFill>
                  <a:srgbClr val="0563C1"/>
                </a:solidFill>
                <a:effectLst/>
                <a:latin typeface="Calibri" panose="020F0502020204030204" pitchFamily="34" charset="0"/>
                <a:ea typeface="SimSun" panose="02010600030101010101" pitchFamily="2" charset="-122"/>
                <a:cs typeface="Times New Roman" panose="02020603050405020304" pitchFamily="18" charset="0"/>
                <a:hlinkClick r:id="rId3"/>
              </a:rPr>
              <a:t>https://alice.yandex.ru/</a:t>
            </a:r>
            <a:endParaRPr lang="ru-RU" sz="3200" kern="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15" name="TextBox 14">
            <a:extLst>
              <a:ext uri="{FF2B5EF4-FFF2-40B4-BE49-F238E27FC236}">
                <a16:creationId xmlns:a16="http://schemas.microsoft.com/office/drawing/2014/main" id="{DB3E7BB1-D799-F910-1B83-3723D12EB5C9}"/>
              </a:ext>
            </a:extLst>
          </p:cNvPr>
          <p:cNvSpPr txBox="1"/>
          <p:nvPr/>
        </p:nvSpPr>
        <p:spPr>
          <a:xfrm>
            <a:off x="365760" y="2371795"/>
            <a:ext cx="23652480" cy="18158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ru-RU" sz="2800" b="1" i="0" dirty="0">
                <a:solidFill>
                  <a:srgbClr val="0F1115"/>
                </a:solidFill>
                <a:effectLst/>
                <a:latin typeface="Arial" panose="020B0604020202020204" pitchFamily="34" charset="0"/>
                <a:cs typeface="Arial" panose="020B0604020202020204" pitchFamily="34" charset="0"/>
              </a:rPr>
              <a:t>Нормативная база</a:t>
            </a:r>
            <a:endParaRPr lang="ru-RU" sz="2800" b="0" i="0" dirty="0">
              <a:solidFill>
                <a:srgbClr val="0F1115"/>
              </a:solidFill>
              <a:effectLst/>
              <a:latin typeface="Arial" panose="020B0604020202020204" pitchFamily="34" charset="0"/>
              <a:cs typeface="Arial" panose="020B0604020202020204" pitchFamily="34" charset="0"/>
            </a:endParaRPr>
          </a:p>
          <a:p>
            <a:pPr algn="l"/>
            <a:r>
              <a:rPr lang="ru-RU" sz="2800" b="0" i="0" dirty="0">
                <a:solidFill>
                  <a:srgbClr val="0F1115"/>
                </a:solidFill>
                <a:effectLst/>
                <a:latin typeface="Arial" panose="020B0604020202020204" pitchFamily="34" charset="0"/>
                <a:cs typeface="Arial" panose="020B0604020202020204" pitchFamily="34" charset="0"/>
              </a:rPr>
              <a:t>Унифицированная форма № Т-3 (утверждена Постановлением Госкомстата РФ от 05.01.2004 № 1). Возможна разработка собственной формы при соблюдении требований ст. 9 Федерального закона № 402-ФЗ. Отсутствие штатного расписания влечет штраф по ч. 1 ст. 5.27 КоАП РФ: на должностных лиц — 1 000–5 000 руб., на юридических лиц — 30 000–50 000 руб.</a:t>
            </a:r>
          </a:p>
        </p:txBody>
      </p:sp>
      <p:sp>
        <p:nvSpPr>
          <p:cNvPr id="17" name="TextBox 16">
            <a:extLst>
              <a:ext uri="{FF2B5EF4-FFF2-40B4-BE49-F238E27FC236}">
                <a16:creationId xmlns:a16="http://schemas.microsoft.com/office/drawing/2014/main" id="{D968F394-F752-158C-0D78-129CA5721C05}"/>
              </a:ext>
            </a:extLst>
          </p:cNvPr>
          <p:cNvSpPr txBox="1"/>
          <p:nvPr/>
        </p:nvSpPr>
        <p:spPr>
          <a:xfrm>
            <a:off x="13063220" y="4667805"/>
            <a:ext cx="9999980"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ru-RU" sz="2800" b="1" i="0" dirty="0">
                <a:solidFill>
                  <a:srgbClr val="0F1115"/>
                </a:solidFill>
                <a:effectLst/>
                <a:latin typeface="Arial" panose="020B0604020202020204" pitchFamily="34" charset="0"/>
                <a:cs typeface="Arial" panose="020B0604020202020204" pitchFamily="34" charset="0"/>
              </a:rPr>
              <a:t>Структура формы № Т-3 (графы 1–10)</a:t>
            </a:r>
            <a:endParaRPr lang="ru-RU" sz="2800" b="0" i="0" dirty="0">
              <a:solidFill>
                <a:srgbClr val="0F1115"/>
              </a:solidFill>
              <a:effectLst/>
              <a:latin typeface="Arial" panose="020B0604020202020204" pitchFamily="34" charset="0"/>
              <a:cs typeface="Arial" panose="020B0604020202020204" pitchFamily="34" charset="0"/>
            </a:endParaRPr>
          </a:p>
          <a:p>
            <a:pPr algn="l"/>
            <a:r>
              <a:rPr lang="ru-RU" sz="2800" b="0" i="0" dirty="0">
                <a:solidFill>
                  <a:srgbClr val="0F1115"/>
                </a:solidFill>
                <a:effectLst/>
                <a:latin typeface="Arial" panose="020B0604020202020204" pitchFamily="34" charset="0"/>
                <a:cs typeface="Arial" panose="020B0604020202020204" pitchFamily="34" charset="0"/>
              </a:rPr>
              <a:t>1 — Наименование подразделения</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2 — Код подразделения</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3 — Должность (специальность, профессия)</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4 — Количество штатных единиц</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5 — Тарифная ставка (оклад)</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6–8 — Надбавки</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9 — Всего в месяц (гр. 5 + 6 + 7 + 8)</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10 — Примечание</a:t>
            </a:r>
          </a:p>
        </p:txBody>
      </p:sp>
      <p:sp>
        <p:nvSpPr>
          <p:cNvPr id="19" name="TextBox 18">
            <a:extLst>
              <a:ext uri="{FF2B5EF4-FFF2-40B4-BE49-F238E27FC236}">
                <a16:creationId xmlns:a16="http://schemas.microsoft.com/office/drawing/2014/main" id="{82675E9A-78C1-C848-6749-9F134723D76E}"/>
              </a:ext>
            </a:extLst>
          </p:cNvPr>
          <p:cNvSpPr txBox="1"/>
          <p:nvPr/>
        </p:nvSpPr>
        <p:spPr>
          <a:xfrm>
            <a:off x="480426" y="9438035"/>
            <a:ext cx="11717020"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ru-RU" sz="2800" b="1" i="0" dirty="0">
                <a:solidFill>
                  <a:srgbClr val="0F1115"/>
                </a:solidFill>
                <a:effectLst/>
                <a:latin typeface="Arial" panose="020B0604020202020204" pitchFamily="34" charset="0"/>
                <a:cs typeface="Arial" panose="020B0604020202020204" pitchFamily="34" charset="0"/>
              </a:rPr>
              <a:t>Порядок утверждения и внесения изменений</a:t>
            </a:r>
            <a:endParaRPr lang="ru-RU" sz="2800" b="0" i="0" dirty="0">
              <a:solidFill>
                <a:srgbClr val="0F1115"/>
              </a:solidFill>
              <a:effectLst/>
              <a:latin typeface="Arial" panose="020B0604020202020204" pitchFamily="34" charset="0"/>
              <a:cs typeface="Arial" panose="020B0604020202020204" pitchFamily="34" charset="0"/>
            </a:endParaRPr>
          </a:p>
          <a:p>
            <a:pPr algn="l"/>
            <a:r>
              <a:rPr lang="ru-RU" sz="2800" b="0" i="0" dirty="0">
                <a:solidFill>
                  <a:srgbClr val="0F1115"/>
                </a:solidFill>
                <a:effectLst/>
                <a:latin typeface="Arial" panose="020B0604020202020204" pitchFamily="34" charset="0"/>
                <a:cs typeface="Arial" panose="020B0604020202020204" pitchFamily="34" charset="0"/>
              </a:rPr>
              <a:t>Составление → Согласование с финансовой службой → Утверждение приказом руководителя → Регистрация в журнале учета. Изменения вносятся отдельным приказом или утверждением нового расписания. В графе 10 фиксируются ссылки на приказы и особые условия.</a:t>
            </a:r>
          </a:p>
        </p:txBody>
      </p:sp>
      <p:sp>
        <p:nvSpPr>
          <p:cNvPr id="21" name="TextBox 20">
            <a:extLst>
              <a:ext uri="{FF2B5EF4-FFF2-40B4-BE49-F238E27FC236}">
                <a16:creationId xmlns:a16="http://schemas.microsoft.com/office/drawing/2014/main" id="{0B5617A0-4A04-CD7D-1E05-AF98020EF9FF}"/>
              </a:ext>
            </a:extLst>
          </p:cNvPr>
          <p:cNvSpPr txBox="1"/>
          <p:nvPr/>
        </p:nvSpPr>
        <p:spPr>
          <a:xfrm>
            <a:off x="13063220" y="9062531"/>
            <a:ext cx="9999980"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ru-RU" sz="2800" b="1" i="0" dirty="0">
                <a:solidFill>
                  <a:srgbClr val="A00F33"/>
                </a:solidFill>
                <a:effectLst/>
                <a:latin typeface="Arial" panose="020B0604020202020204" pitchFamily="34" charset="0"/>
                <a:cs typeface="Arial" panose="020B0604020202020204" pitchFamily="34" charset="0"/>
              </a:rPr>
              <a:t>Типичные ошибки</a:t>
            </a:r>
            <a:endParaRPr lang="ru-RU" sz="2800" b="0" i="0" dirty="0">
              <a:solidFill>
                <a:srgbClr val="A00F33"/>
              </a:solidFill>
              <a:effectLst/>
              <a:latin typeface="Arial" panose="020B0604020202020204" pitchFamily="34" charset="0"/>
              <a:cs typeface="Arial" panose="020B0604020202020204" pitchFamily="34" charset="0"/>
            </a:endParaRPr>
          </a:p>
          <a:p>
            <a:pPr algn="l"/>
            <a:r>
              <a:rPr lang="ru-RU" sz="2800" b="0" i="0" dirty="0">
                <a:solidFill>
                  <a:srgbClr val="0F1115"/>
                </a:solidFill>
                <a:effectLst/>
                <a:latin typeface="Arial" panose="020B0604020202020204" pitchFamily="34" charset="0"/>
                <a:cs typeface="Arial" panose="020B0604020202020204" pitchFamily="34" charset="0"/>
              </a:rPr>
              <a:t>• Отсутствие кода ОКПО или подписей</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Не заполнены графы надбавок при их наличии</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Отсутствие грифа утверждения</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Округление штатных единиц</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Несоответствие окладов по идентичным должностям</a:t>
            </a:r>
          </a:p>
        </p:txBody>
      </p:sp>
      <p:sp>
        <p:nvSpPr>
          <p:cNvPr id="25" name="TextBox 24">
            <a:extLst>
              <a:ext uri="{FF2B5EF4-FFF2-40B4-BE49-F238E27FC236}">
                <a16:creationId xmlns:a16="http://schemas.microsoft.com/office/drawing/2014/main" id="{B9ECFD87-6251-27E4-14C6-105FB54F190D}"/>
              </a:ext>
            </a:extLst>
          </p:cNvPr>
          <p:cNvSpPr txBox="1"/>
          <p:nvPr/>
        </p:nvSpPr>
        <p:spPr>
          <a:xfrm>
            <a:off x="480426" y="4452362"/>
            <a:ext cx="12192000" cy="44012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ru-RU" sz="2800" b="1" i="0" dirty="0">
                <a:solidFill>
                  <a:srgbClr val="0F1115"/>
                </a:solidFill>
                <a:effectLst/>
                <a:latin typeface="Arial" panose="020B0604020202020204" pitchFamily="34" charset="0"/>
                <a:cs typeface="Arial" panose="020B0604020202020204" pitchFamily="34" charset="0"/>
              </a:rPr>
              <a:t>Обязательные реквизиты</a:t>
            </a:r>
            <a:endParaRPr lang="ru-RU" sz="2800" b="0" i="0" dirty="0">
              <a:solidFill>
                <a:srgbClr val="0F1115"/>
              </a:solidFill>
              <a:effectLst/>
              <a:latin typeface="Arial" panose="020B0604020202020204" pitchFamily="34" charset="0"/>
              <a:cs typeface="Arial" panose="020B0604020202020204" pitchFamily="34" charset="0"/>
            </a:endParaRPr>
          </a:p>
          <a:p>
            <a:pPr algn="l"/>
            <a:r>
              <a:rPr lang="ru-RU" sz="2800" b="0" i="0" dirty="0">
                <a:solidFill>
                  <a:srgbClr val="0F1115"/>
                </a:solidFill>
                <a:effectLst/>
                <a:latin typeface="Arial" panose="020B0604020202020204" pitchFamily="34" charset="0"/>
                <a:cs typeface="Arial" panose="020B0604020202020204" pitchFamily="34" charset="0"/>
              </a:rPr>
              <a:t>• Наименование работодателя и код ОКПО</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Перечень подразделений и должностей с кодами</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Количество штатных единиц (включая 0,5; 0,25)</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Оклады и тарифные ставки</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Надбавки (стимулирующие и компенсационные)</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Общий месячный фонд заработной платы</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Подписи руководителя кадровой службы и главного бухгалтера</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Гриф утверждения с датой и номером приказа</a:t>
            </a:r>
            <a:br>
              <a:rPr lang="ru-RU" sz="2800" b="0" i="0" dirty="0">
                <a:solidFill>
                  <a:srgbClr val="0F1115"/>
                </a:solidFill>
                <a:effectLst/>
                <a:latin typeface="Arial" panose="020B0604020202020204" pitchFamily="34" charset="0"/>
                <a:cs typeface="Arial" panose="020B0604020202020204" pitchFamily="34" charset="0"/>
              </a:rPr>
            </a:br>
            <a:r>
              <a:rPr lang="ru-RU" sz="2800" b="0" i="0" dirty="0">
                <a:solidFill>
                  <a:srgbClr val="0F1115"/>
                </a:solidFill>
                <a:effectLst/>
                <a:latin typeface="Arial" panose="020B0604020202020204" pitchFamily="34" charset="0"/>
                <a:cs typeface="Arial" panose="020B0604020202020204" pitchFamily="34" charset="0"/>
              </a:rPr>
              <a:t>• Дата составления</a:t>
            </a:r>
          </a:p>
        </p:txBody>
      </p:sp>
    </p:spTree>
    <p:extLst>
      <p:ext uri="{BB962C8B-B14F-4D97-AF65-F5344CB8AC3E}">
        <p14:creationId xmlns:p14="http://schemas.microsoft.com/office/powerpoint/2010/main" val="426533460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F8CB5-58D3-FB24-B177-9C8E048AE0DE}"/>
            </a:ext>
          </a:extLst>
        </p:cNvPr>
        <p:cNvGrpSpPr/>
        <p:nvPr/>
      </p:nvGrpSpPr>
      <p:grpSpPr>
        <a:xfrm>
          <a:off x="0" y="0"/>
          <a:ext cx="0" cy="0"/>
          <a:chOff x="0" y="0"/>
          <a:chExt cx="0" cy="0"/>
        </a:xfrm>
      </p:grpSpPr>
      <p:sp>
        <p:nvSpPr>
          <p:cNvPr id="4" name="Rectangle">
            <a:extLst>
              <a:ext uri="{FF2B5EF4-FFF2-40B4-BE49-F238E27FC236}">
                <a16:creationId xmlns:a16="http://schemas.microsoft.com/office/drawing/2014/main" id="{300683A3-ABCD-5D16-13A4-9A32DFC3628C}"/>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B7AC63F7-AD9F-CC5C-C054-7ED010479444}"/>
              </a:ext>
            </a:extLst>
          </p:cNvPr>
          <p:cNvSpPr txBox="1"/>
          <p:nvPr/>
        </p:nvSpPr>
        <p:spPr>
          <a:xfrm>
            <a:off x="480426" y="-152518"/>
            <a:ext cx="16832214" cy="21359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SimSun" panose="02010600030101010101" pitchFamily="2" charset="-122"/>
                <a:cs typeface="Arial" panose="020B0604020202020204" pitchFamily="34" charset="0"/>
              </a:rPr>
              <a:t>Назначение и особенности стандарта описания процесса BPMN 2.0.</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graphicFrame>
        <p:nvGraphicFramePr>
          <p:cNvPr id="2" name="Таблица 1">
            <a:extLst>
              <a:ext uri="{FF2B5EF4-FFF2-40B4-BE49-F238E27FC236}">
                <a16:creationId xmlns:a16="http://schemas.microsoft.com/office/drawing/2014/main" id="{10F5FA2F-EA4B-E489-60E4-36F002B7BDE1}"/>
              </a:ext>
            </a:extLst>
          </p:cNvPr>
          <p:cNvGraphicFramePr>
            <a:graphicFrameLocks noGrp="1"/>
          </p:cNvGraphicFramePr>
          <p:nvPr>
            <p:extLst>
              <p:ext uri="{D42A27DB-BD31-4B8C-83A1-F6EECF244321}">
                <p14:modId xmlns:p14="http://schemas.microsoft.com/office/powerpoint/2010/main" val="3111745266"/>
              </p:ext>
            </p:extLst>
          </p:nvPr>
        </p:nvGraphicFramePr>
        <p:xfrm>
          <a:off x="480426" y="3141027"/>
          <a:ext cx="22745334" cy="6004560"/>
        </p:xfrm>
        <a:graphic>
          <a:graphicData uri="http://schemas.openxmlformats.org/drawingml/2006/table">
            <a:tbl>
              <a:tblPr/>
              <a:tblGrid>
                <a:gridCol w="11372667">
                  <a:extLst>
                    <a:ext uri="{9D8B030D-6E8A-4147-A177-3AD203B41FA5}">
                      <a16:colId xmlns:a16="http://schemas.microsoft.com/office/drawing/2014/main" val="2837983684"/>
                    </a:ext>
                  </a:extLst>
                </a:gridCol>
                <a:gridCol w="11372667">
                  <a:extLst>
                    <a:ext uri="{9D8B030D-6E8A-4147-A177-3AD203B41FA5}">
                      <a16:colId xmlns:a16="http://schemas.microsoft.com/office/drawing/2014/main" val="2465440881"/>
                    </a:ext>
                  </a:extLst>
                </a:gridCol>
              </a:tblGrid>
              <a:tr h="0">
                <a:tc>
                  <a:txBody>
                    <a:bodyPr/>
                    <a:lstStyle/>
                    <a:p>
                      <a:pPr algn="l">
                        <a:buNone/>
                      </a:pPr>
                      <a:r>
                        <a:rPr lang="ru-RU" sz="2800" b="1" dirty="0">
                          <a:effectLst/>
                          <a:latin typeface="Arial" panose="020B0604020202020204" pitchFamily="34" charset="0"/>
                          <a:cs typeface="Arial" panose="020B0604020202020204" pitchFamily="34" charset="0"/>
                        </a:rPr>
                        <a:t>1. Назначение и цели</a:t>
                      </a:r>
                      <a:endParaRPr lang="ru-RU" sz="2800" dirty="0">
                        <a:effectLst/>
                        <a:latin typeface="Arial" panose="020B0604020202020204" pitchFamily="34" charset="0"/>
                        <a:cs typeface="Arial" panose="020B0604020202020204" pitchFamily="34" charset="0"/>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lgn="l">
                        <a:buNone/>
                      </a:pPr>
                      <a:r>
                        <a:rPr lang="ru-RU" sz="2800" b="1">
                          <a:effectLst/>
                          <a:latin typeface="Arial" panose="020B0604020202020204" pitchFamily="34" charset="0"/>
                          <a:cs typeface="Arial" panose="020B0604020202020204" pitchFamily="34" charset="0"/>
                        </a:rPr>
                        <a:t>2. Ключевые особенности и элементы</a:t>
                      </a:r>
                      <a:endParaRPr lang="ru-RU" sz="2800">
                        <a:effectLst/>
                        <a:latin typeface="Arial" panose="020B0604020202020204" pitchFamily="34" charset="0"/>
                        <a:cs typeface="Arial" panose="020B0604020202020204" pitchFamily="34" charset="0"/>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77602634"/>
                  </a:ext>
                </a:extLst>
              </a:tr>
              <a:tr h="0">
                <a:tc>
                  <a:txBody>
                    <a:bodyPr/>
                    <a:lstStyle/>
                    <a:p>
                      <a:pPr algn="l">
                        <a:buNone/>
                      </a:pPr>
                      <a:r>
                        <a:rPr lang="ru-RU" sz="2800" b="1" dirty="0">
                          <a:effectLst/>
                          <a:latin typeface="Arial" panose="020B0604020202020204" pitchFamily="34" charset="0"/>
                          <a:cs typeface="Arial" panose="020B0604020202020204" pitchFamily="34" charset="0"/>
                        </a:rPr>
                        <a:t>Унификация:</a:t>
                      </a:r>
                      <a:r>
                        <a:rPr lang="ru-RU" sz="2800" dirty="0">
                          <a:effectLst/>
                          <a:latin typeface="Arial" panose="020B0604020202020204" pitchFamily="34" charset="0"/>
                          <a:cs typeface="Arial" panose="020B0604020202020204" pitchFamily="34" charset="0"/>
                        </a:rPr>
                        <a:t> Создание общего визуального словаря. Это исключает ситуацию, когда разные отделы используют свои символы для обозначения одних и тех же действий.</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lgn="l">
                        <a:buNone/>
                      </a:pPr>
                      <a:r>
                        <a:rPr lang="ru-RU" sz="2800" b="1" dirty="0">
                          <a:effectLst/>
                          <a:latin typeface="Arial" panose="020B0604020202020204" pitchFamily="34" charset="0"/>
                          <a:cs typeface="Arial" panose="020B0604020202020204" pitchFamily="34" charset="0"/>
                        </a:rPr>
                        <a:t>Событийная модель (Events):</a:t>
                      </a:r>
                      <a:r>
                        <a:rPr lang="ru-RU" sz="2800" dirty="0">
                          <a:effectLst/>
                          <a:latin typeface="Arial" panose="020B0604020202020204" pitchFamily="34" charset="0"/>
                          <a:cs typeface="Arial" panose="020B0604020202020204" pitchFamily="34" charset="0"/>
                        </a:rPr>
                        <a:t> Весь процесс строится вокруг событий. Есть стартовые, промежуточные и конечные события. Это делает модель динамичной.</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65206881"/>
                  </a:ext>
                </a:extLst>
              </a:tr>
              <a:tr h="0">
                <a:tc>
                  <a:txBody>
                    <a:bodyPr/>
                    <a:lstStyle/>
                    <a:p>
                      <a:pPr algn="l">
                        <a:buNone/>
                      </a:pPr>
                      <a:r>
                        <a:rPr lang="ru-RU" sz="2800" b="1" dirty="0">
                          <a:effectLst/>
                          <a:latin typeface="Arial" panose="020B0604020202020204" pitchFamily="34" charset="0"/>
                          <a:cs typeface="Arial" panose="020B0604020202020204" pitchFamily="34" charset="0"/>
                        </a:rPr>
                        <a:t>Прозрачность и анализ:</a:t>
                      </a:r>
                      <a:r>
                        <a:rPr lang="ru-RU" sz="2800" dirty="0">
                          <a:effectLst/>
                          <a:latin typeface="Arial" panose="020B0604020202020204" pitchFamily="34" charset="0"/>
                          <a:cs typeface="Arial" panose="020B0604020202020204" pitchFamily="34" charset="0"/>
                        </a:rPr>
                        <a:t> Позволяет увидеть процесс «с высоты птичьего полета», выявить дублирующие функции, лишние согласования и «узкие места» (bottlenecks).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lgn="l">
                        <a:buNone/>
                      </a:pPr>
                      <a:r>
                        <a:rPr lang="ru-RU" sz="2800" b="1">
                          <a:effectLst/>
                          <a:latin typeface="Arial" panose="020B0604020202020204" pitchFamily="34" charset="0"/>
                          <a:cs typeface="Arial" panose="020B0604020202020204" pitchFamily="34" charset="0"/>
                        </a:rPr>
                        <a:t>Зоны ответственности (Pools &amp; Lanes):</a:t>
                      </a:r>
                      <a:r>
                        <a:rPr lang="ru-RU" sz="2800">
                          <a:effectLst/>
                          <a:latin typeface="Arial" panose="020B0604020202020204" pitchFamily="34" charset="0"/>
                          <a:cs typeface="Arial" panose="020B0604020202020204" pitchFamily="34" charset="0"/>
                        </a:rPr>
                        <a:t> Наглядно разделяется, кто именно выполняет задачу: конкретный отдел, внешний контрагент или система.</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11487252"/>
                  </a:ext>
                </a:extLst>
              </a:tr>
              <a:tr h="0">
                <a:tc>
                  <a:txBody>
                    <a:bodyPr/>
                    <a:lstStyle/>
                    <a:p>
                      <a:pPr algn="l">
                        <a:buNone/>
                      </a:pPr>
                      <a:r>
                        <a:rPr lang="ru-RU" sz="2800" b="1">
                          <a:effectLst/>
                          <a:latin typeface="Arial" panose="020B0604020202020204" pitchFamily="34" charset="0"/>
                          <a:cs typeface="Arial" panose="020B0604020202020204" pitchFamily="34" charset="0"/>
                        </a:rPr>
                        <a:t>Исполняемость (Automation):</a:t>
                      </a:r>
                      <a:r>
                        <a:rPr lang="ru-RU" sz="2800">
                          <a:effectLst/>
                          <a:latin typeface="Arial" panose="020B0604020202020204" pitchFamily="34" charset="0"/>
                          <a:cs typeface="Arial" panose="020B0604020202020204" pitchFamily="34" charset="0"/>
                        </a:rPr>
                        <a:t> Схемы могут быть преобразованы в формат XML. Это позволяет загружать их в системы (BPMS), где процесс «оживает».</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lgn="l">
                        <a:buNone/>
                      </a:pPr>
                      <a:r>
                        <a:rPr lang="ru-RU" sz="2800" b="1">
                          <a:effectLst/>
                          <a:latin typeface="Arial" panose="020B0604020202020204" pitchFamily="34" charset="0"/>
                          <a:cs typeface="Arial" panose="020B0604020202020204" pitchFamily="34" charset="0"/>
                        </a:rPr>
                        <a:t>Типы шлюзов (Gateways):</a:t>
                      </a:r>
                      <a:r>
                        <a:rPr lang="ru-RU" sz="2800">
                          <a:effectLst/>
                          <a:latin typeface="Arial" panose="020B0604020202020204" pitchFamily="34" charset="0"/>
                          <a:cs typeface="Arial" panose="020B0604020202020204" pitchFamily="34" charset="0"/>
                        </a:rPr>
                        <a:t> Четкая логика ветвления. Исключающий шлюз (XOR) выбирает один путь, параллельный (AND) запускает несколько задач.</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15156312"/>
                  </a:ext>
                </a:extLst>
              </a:tr>
              <a:tr h="0">
                <a:tc>
                  <a:txBody>
                    <a:bodyPr/>
                    <a:lstStyle/>
                    <a:p>
                      <a:pPr algn="l">
                        <a:buNone/>
                      </a:pPr>
                      <a:endParaRPr lang="ru-RU" sz="2800" dirty="0">
                        <a:effectLst/>
                        <a:latin typeface="Arial" panose="020B0604020202020204" pitchFamily="34" charset="0"/>
                        <a:cs typeface="Arial" panose="020B0604020202020204" pitchFamily="34" charset="0"/>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lgn="l">
                        <a:buNone/>
                      </a:pPr>
                      <a:r>
                        <a:rPr lang="ru-RU" sz="2800" b="1" dirty="0">
                          <a:effectLst/>
                          <a:latin typeface="Arial" panose="020B0604020202020204" pitchFamily="34" charset="0"/>
                          <a:cs typeface="Arial" panose="020B0604020202020204" pitchFamily="34" charset="0"/>
                        </a:rPr>
                        <a:t>Объекты данных:</a:t>
                      </a:r>
                      <a:r>
                        <a:rPr lang="ru-RU" sz="2800" dirty="0">
                          <a:effectLst/>
                          <a:latin typeface="Arial" panose="020B0604020202020204" pitchFamily="34" charset="0"/>
                          <a:cs typeface="Arial" panose="020B0604020202020204" pitchFamily="34" charset="0"/>
                        </a:rPr>
                        <a:t> Позволяет отображать движение информации и документов, что критично для офисных и финансовых процессов.</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81395699"/>
                  </a:ext>
                </a:extLst>
              </a:tr>
            </a:tbl>
          </a:graphicData>
        </a:graphic>
      </p:graphicFrame>
      <p:sp>
        <p:nvSpPr>
          <p:cNvPr id="7" name="TextBox 6">
            <a:extLst>
              <a:ext uri="{FF2B5EF4-FFF2-40B4-BE49-F238E27FC236}">
                <a16:creationId xmlns:a16="http://schemas.microsoft.com/office/drawing/2014/main" id="{5058D40C-5CDA-ED98-C50C-E80AA4A28717}"/>
              </a:ext>
            </a:extLst>
          </p:cNvPr>
          <p:cNvSpPr txBox="1"/>
          <p:nvPr/>
        </p:nvSpPr>
        <p:spPr>
          <a:xfrm>
            <a:off x="1117600" y="9754999"/>
            <a:ext cx="20848320" cy="18158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ru-RU" sz="2800" dirty="0">
                <a:latin typeface="Arial" panose="020B0604020202020204" pitchFamily="34" charset="0"/>
                <a:cs typeface="Arial" panose="020B0604020202020204" pitchFamily="34" charset="0"/>
              </a:rPr>
              <a:t>Практические кейсы:</a:t>
            </a:r>
            <a:endParaRPr lang="en-US" sz="2800" dirty="0">
              <a:latin typeface="Arial" panose="020B0604020202020204" pitchFamily="34" charset="0"/>
              <a:cs typeface="Arial" panose="020B0604020202020204" pitchFamily="34" charset="0"/>
            </a:endParaRPr>
          </a:p>
          <a:p>
            <a:pPr algn="l"/>
            <a:r>
              <a:rPr lang="ru-RU" sz="2800" dirty="0">
                <a:latin typeface="Arial" panose="020B0604020202020204" pitchFamily="34" charset="0"/>
                <a:cs typeface="Arial" panose="020B0604020202020204" pitchFamily="34" charset="0"/>
              </a:rPr>
              <a:t>Логистика: </a:t>
            </a:r>
            <a:r>
              <a:rPr lang="ru-RU" sz="2800" b="0" dirty="0">
                <a:latin typeface="Arial" panose="020B0604020202020204" pitchFamily="34" charset="0"/>
                <a:cs typeface="Arial" panose="020B0604020202020204" pitchFamily="34" charset="0"/>
              </a:rPr>
              <a:t>Использование параллельных шлюзов для сокращения времени доставки с дней до часов.</a:t>
            </a:r>
            <a:endParaRPr lang="en-US" sz="2800" b="0" dirty="0">
              <a:latin typeface="Arial" panose="020B0604020202020204" pitchFamily="34" charset="0"/>
              <a:cs typeface="Arial" panose="020B0604020202020204" pitchFamily="34" charset="0"/>
            </a:endParaRPr>
          </a:p>
          <a:p>
            <a:pPr algn="l"/>
            <a:r>
              <a:rPr lang="ru-RU" sz="2800" dirty="0">
                <a:latin typeface="Arial" panose="020B0604020202020204" pitchFamily="34" charset="0"/>
                <a:cs typeface="Arial" panose="020B0604020202020204" pitchFamily="34" charset="0"/>
              </a:rPr>
              <a:t>Безопасность: </a:t>
            </a:r>
            <a:r>
              <a:rPr lang="ru-RU" sz="2800" b="0" dirty="0">
                <a:latin typeface="Arial" panose="020B0604020202020204" pitchFamily="34" charset="0"/>
                <a:cs typeface="Arial" panose="020B0604020202020204" pitchFamily="34" charset="0"/>
              </a:rPr>
              <a:t>Промежуточные события-таймеры для контроля жестких регламентов (SLA).</a:t>
            </a:r>
            <a:endParaRPr lang="en-US" sz="2800" b="0" dirty="0">
              <a:latin typeface="Arial" panose="020B0604020202020204" pitchFamily="34" charset="0"/>
              <a:cs typeface="Arial" panose="020B0604020202020204" pitchFamily="34" charset="0"/>
            </a:endParaRPr>
          </a:p>
          <a:p>
            <a:pPr algn="l"/>
            <a:r>
              <a:rPr lang="ru-RU" sz="2800" dirty="0">
                <a:latin typeface="Arial" panose="020B0604020202020204" pitchFamily="34" charset="0"/>
                <a:cs typeface="Arial" panose="020B0604020202020204" pitchFamily="34" charset="0"/>
              </a:rPr>
              <a:t>Клиентский сервис: </a:t>
            </a:r>
            <a:r>
              <a:rPr lang="ru-RU" sz="2800" b="0" dirty="0">
                <a:latin typeface="Arial" panose="020B0604020202020204" pitchFamily="34" charset="0"/>
                <a:cs typeface="Arial" panose="020B0604020202020204" pitchFamily="34" charset="0"/>
              </a:rPr>
              <a:t>Граничные события для автоматического закрытия «брошенных» диалогов.</a:t>
            </a:r>
          </a:p>
        </p:txBody>
      </p:sp>
    </p:spTree>
    <p:extLst>
      <p:ext uri="{BB962C8B-B14F-4D97-AF65-F5344CB8AC3E}">
        <p14:creationId xmlns:p14="http://schemas.microsoft.com/office/powerpoint/2010/main" val="209385465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87F7F-6BAD-06E0-982A-C362FA648046}"/>
            </a:ext>
          </a:extLst>
        </p:cNvPr>
        <p:cNvGrpSpPr/>
        <p:nvPr/>
      </p:nvGrpSpPr>
      <p:grpSpPr>
        <a:xfrm>
          <a:off x="0" y="0"/>
          <a:ext cx="0" cy="0"/>
          <a:chOff x="0" y="0"/>
          <a:chExt cx="0" cy="0"/>
        </a:xfrm>
      </p:grpSpPr>
      <p:sp>
        <p:nvSpPr>
          <p:cNvPr id="4" name="Rectangle">
            <a:extLst>
              <a:ext uri="{FF2B5EF4-FFF2-40B4-BE49-F238E27FC236}">
                <a16:creationId xmlns:a16="http://schemas.microsoft.com/office/drawing/2014/main" id="{74635397-B1C5-7328-34ED-CEF67B270FD5}"/>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C8D3B246-FAF3-AF72-78CC-4496941CB559}"/>
              </a:ext>
            </a:extLst>
          </p:cNvPr>
          <p:cNvSpPr txBox="1"/>
          <p:nvPr/>
        </p:nvSpPr>
        <p:spPr>
          <a:xfrm>
            <a:off x="480426" y="0"/>
            <a:ext cx="16832214" cy="10741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latin typeface="Arial" panose="020B0604020202020204" pitchFamily="34" charset="0"/>
                <a:ea typeface="SimSun" panose="02010600030101010101" pitchFamily="2" charset="-122"/>
                <a:cs typeface="Arial" panose="020B0604020202020204" pitchFamily="34" charset="0"/>
              </a:rPr>
              <a:t>Диаграмма</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8" name="Рисунок 7" descr="Изображение выглядит как диаграмма, линия, снимок экрана, текст&#10;&#10;Содержимое, созданное искусственным интеллектом, может быть неверным.">
            <a:extLst>
              <a:ext uri="{FF2B5EF4-FFF2-40B4-BE49-F238E27FC236}">
                <a16:creationId xmlns:a16="http://schemas.microsoft.com/office/drawing/2014/main" id="{237B1AF8-E3D6-E354-E9FD-49A9E0A84554}"/>
              </a:ext>
            </a:extLst>
          </p:cNvPr>
          <p:cNvPicPr>
            <a:picLocks noChangeAspect="1"/>
          </p:cNvPicPr>
          <p:nvPr/>
        </p:nvPicPr>
        <p:blipFill>
          <a:blip r:embed="rId2"/>
          <a:stretch>
            <a:fillRect/>
          </a:stretch>
        </p:blipFill>
        <p:spPr>
          <a:xfrm>
            <a:off x="861861" y="3118437"/>
            <a:ext cx="22660278" cy="8321723"/>
          </a:xfrm>
          <a:prstGeom prst="rect">
            <a:avLst/>
          </a:prstGeom>
        </p:spPr>
      </p:pic>
    </p:spTree>
    <p:extLst>
      <p:ext uri="{BB962C8B-B14F-4D97-AF65-F5344CB8AC3E}">
        <p14:creationId xmlns:p14="http://schemas.microsoft.com/office/powerpoint/2010/main" val="286603100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08DCD-8D41-FD48-78D0-B6BDE7D36989}"/>
            </a:ext>
          </a:extLst>
        </p:cNvPr>
        <p:cNvGrpSpPr/>
        <p:nvPr/>
      </p:nvGrpSpPr>
      <p:grpSpPr>
        <a:xfrm>
          <a:off x="0" y="0"/>
          <a:ext cx="0" cy="0"/>
          <a:chOff x="0" y="0"/>
          <a:chExt cx="0" cy="0"/>
        </a:xfrm>
      </p:grpSpPr>
      <p:sp>
        <p:nvSpPr>
          <p:cNvPr id="4" name="Rectangle">
            <a:extLst>
              <a:ext uri="{FF2B5EF4-FFF2-40B4-BE49-F238E27FC236}">
                <a16:creationId xmlns:a16="http://schemas.microsoft.com/office/drawing/2014/main" id="{D3A135FD-8205-9BDA-8022-2AFA065AB96D}"/>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141099EE-ED28-C631-C50A-36236ADDABA0}"/>
              </a:ext>
            </a:extLst>
          </p:cNvPr>
          <p:cNvSpPr txBox="1"/>
          <p:nvPr/>
        </p:nvSpPr>
        <p:spPr>
          <a:xfrm>
            <a:off x="480426" y="0"/>
            <a:ext cx="16832214"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SimSun" panose="02010600030101010101" pitchFamily="2" charset="-122"/>
                <a:cs typeface="Arial" panose="020B0604020202020204" pitchFamily="34" charset="0"/>
              </a:rPr>
              <a:t>Конц</a:t>
            </a:r>
            <a:r>
              <a:rPr lang="ru-RU" sz="6000" b="1" kern="100" dirty="0">
                <a:solidFill>
                  <a:schemeClr val="bg1"/>
                </a:solidFill>
                <a:latin typeface="Arial" panose="020B0604020202020204" pitchFamily="34" charset="0"/>
                <a:ea typeface="SimSun" panose="02010600030101010101" pitchFamily="2" charset="-122"/>
                <a:cs typeface="Arial" panose="020B0604020202020204" pitchFamily="34" charset="0"/>
              </a:rPr>
              <a:t>ептуальная модель базы данных</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3" name="TextBox 2">
            <a:extLst>
              <a:ext uri="{FF2B5EF4-FFF2-40B4-BE49-F238E27FC236}">
                <a16:creationId xmlns:a16="http://schemas.microsoft.com/office/drawing/2014/main" id="{AA4BC78A-4CBC-6B7C-9061-E2585209B37E}"/>
              </a:ext>
            </a:extLst>
          </p:cNvPr>
          <p:cNvSpPr txBox="1"/>
          <p:nvPr/>
        </p:nvSpPr>
        <p:spPr>
          <a:xfrm>
            <a:off x="1584960" y="3238540"/>
            <a:ext cx="12192000" cy="685283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200000"/>
              </a:lnSpc>
            </a:pPr>
            <a:r>
              <a:rPr lang="ru-RU" sz="2800" b="1" dirty="0">
                <a:latin typeface="Arial" panose="020B0604020202020204" pitchFamily="34" charset="0"/>
                <a:cs typeface="Arial" panose="020B0604020202020204" pitchFamily="34" charset="0"/>
              </a:rPr>
              <a:t>Связи (один-ко-многим):</a:t>
            </a:r>
            <a:endParaRPr lang="ru-RU" sz="2800" dirty="0">
              <a:latin typeface="Arial" panose="020B0604020202020204" pitchFamily="34" charset="0"/>
              <a:cs typeface="Arial" panose="020B0604020202020204" pitchFamily="34" charset="0"/>
            </a:endParaRPr>
          </a:p>
          <a:p>
            <a:pPr marL="742950" lvl="1" indent="-285750" algn="l">
              <a:lnSpc>
                <a:spcPct val="200000"/>
              </a:lnSpc>
              <a:buFont typeface="Arial" panose="020B0604020202020204" pitchFamily="34" charset="0"/>
              <a:buChar char="•"/>
            </a:pPr>
            <a:r>
              <a:rPr lang="ru-RU" sz="2800" dirty="0">
                <a:latin typeface="Arial" panose="020B0604020202020204" pitchFamily="34" charset="0"/>
                <a:cs typeface="Arial" panose="020B0604020202020204" pitchFamily="34" charset="0"/>
              </a:rPr>
              <a:t>Организация-подразделения</a:t>
            </a:r>
          </a:p>
          <a:p>
            <a:pPr marL="742950" lvl="1" indent="-285750" algn="l">
              <a:lnSpc>
                <a:spcPct val="200000"/>
              </a:lnSpc>
              <a:buFont typeface="Arial" panose="020B0604020202020204" pitchFamily="34" charset="0"/>
              <a:buChar char="•"/>
            </a:pPr>
            <a:r>
              <a:rPr lang="ru-RU" sz="2800" dirty="0">
                <a:latin typeface="Arial" panose="020B0604020202020204" pitchFamily="34" charset="0"/>
                <a:cs typeface="Arial" panose="020B0604020202020204" pitchFamily="34" charset="0"/>
              </a:rPr>
              <a:t>Организация-документы</a:t>
            </a:r>
          </a:p>
          <a:p>
            <a:pPr marL="742950" lvl="1" indent="-285750" algn="l">
              <a:lnSpc>
                <a:spcPct val="200000"/>
              </a:lnSpc>
              <a:buFont typeface="Arial" panose="020B0604020202020204" pitchFamily="34" charset="0"/>
              <a:buChar char="•"/>
            </a:pPr>
            <a:r>
              <a:rPr lang="ru-RU" sz="2800" dirty="0">
                <a:latin typeface="Arial" panose="020B0604020202020204" pitchFamily="34" charset="0"/>
                <a:cs typeface="Arial" panose="020B0604020202020204" pitchFamily="34" charset="0"/>
              </a:rPr>
              <a:t>Подразделения-штатные строки</a:t>
            </a:r>
          </a:p>
          <a:p>
            <a:pPr marL="742950" lvl="1" indent="-285750" algn="l">
              <a:lnSpc>
                <a:spcPct val="200000"/>
              </a:lnSpc>
              <a:buFont typeface="Arial" panose="020B0604020202020204" pitchFamily="34" charset="0"/>
              <a:buChar char="•"/>
            </a:pPr>
            <a:r>
              <a:rPr lang="ru-RU" sz="2800" dirty="0">
                <a:latin typeface="Arial" panose="020B0604020202020204" pitchFamily="34" charset="0"/>
                <a:cs typeface="Arial" panose="020B0604020202020204" pitchFamily="34" charset="0"/>
              </a:rPr>
              <a:t>Документ-штатные строки</a:t>
            </a:r>
          </a:p>
          <a:p>
            <a:pPr marL="742950" lvl="1" indent="-285750" algn="l">
              <a:lnSpc>
                <a:spcPct val="200000"/>
              </a:lnSpc>
              <a:buFont typeface="Arial" panose="020B0604020202020204" pitchFamily="34" charset="0"/>
              <a:buChar char="•"/>
            </a:pPr>
            <a:r>
              <a:rPr lang="ru-RU" sz="2800" dirty="0">
                <a:latin typeface="Arial" panose="020B0604020202020204" pitchFamily="34" charset="0"/>
                <a:cs typeface="Arial" panose="020B0604020202020204" pitchFamily="34" charset="0"/>
              </a:rPr>
              <a:t>Штатная строка-должность</a:t>
            </a:r>
          </a:p>
          <a:p>
            <a:pPr marL="742950" lvl="1" indent="-285750" algn="l">
              <a:lnSpc>
                <a:spcPct val="200000"/>
              </a:lnSpc>
              <a:buFont typeface="Arial" panose="020B0604020202020204" pitchFamily="34" charset="0"/>
              <a:buChar char="•"/>
            </a:pPr>
            <a:r>
              <a:rPr lang="ru-RU" sz="2800" dirty="0">
                <a:latin typeface="Arial" panose="020B0604020202020204" pitchFamily="34" charset="0"/>
                <a:cs typeface="Arial" panose="020B0604020202020204" pitchFamily="34" charset="0"/>
              </a:rPr>
              <a:t>Штатная строка-значение надбавок</a:t>
            </a:r>
          </a:p>
          <a:p>
            <a:pPr marL="742950" lvl="1" indent="-285750" algn="l">
              <a:lnSpc>
                <a:spcPct val="200000"/>
              </a:lnSpc>
              <a:buFont typeface="Arial" panose="020B0604020202020204" pitchFamily="34" charset="0"/>
              <a:buChar char="•"/>
            </a:pPr>
            <a:r>
              <a:rPr lang="ru-RU" sz="2800" dirty="0">
                <a:latin typeface="Arial" panose="020B0604020202020204" pitchFamily="34" charset="0"/>
                <a:cs typeface="Arial" panose="020B0604020202020204" pitchFamily="34" charset="0"/>
              </a:rPr>
              <a:t>Значение надбавки-надбавка</a:t>
            </a:r>
          </a:p>
        </p:txBody>
      </p:sp>
      <p:pic>
        <p:nvPicPr>
          <p:cNvPr id="6" name="Рисунок 5">
            <a:extLst>
              <a:ext uri="{FF2B5EF4-FFF2-40B4-BE49-F238E27FC236}">
                <a16:creationId xmlns:a16="http://schemas.microsoft.com/office/drawing/2014/main" id="{94E38D6C-CB7C-13A1-0AD4-8AB4F52CBE42}"/>
              </a:ext>
            </a:extLst>
          </p:cNvPr>
          <p:cNvPicPr>
            <a:picLocks noChangeAspect="1"/>
          </p:cNvPicPr>
          <p:nvPr/>
        </p:nvPicPr>
        <p:blipFill>
          <a:blip r:embed="rId2"/>
          <a:srcRect l="30792" t="41436" r="796" b="33151"/>
          <a:stretch>
            <a:fillRect/>
          </a:stretch>
        </p:blipFill>
        <p:spPr>
          <a:xfrm>
            <a:off x="10093642" y="5257641"/>
            <a:ext cx="13474268" cy="2814637"/>
          </a:xfrm>
          <a:prstGeom prst="rect">
            <a:avLst/>
          </a:prstGeom>
          <a:ln>
            <a:noFill/>
          </a:ln>
        </p:spPr>
      </p:pic>
    </p:spTree>
    <p:extLst>
      <p:ext uri="{BB962C8B-B14F-4D97-AF65-F5344CB8AC3E}">
        <p14:creationId xmlns:p14="http://schemas.microsoft.com/office/powerpoint/2010/main" val="50282171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C7F5E-52E7-6324-D271-123AC05C3651}"/>
            </a:ext>
          </a:extLst>
        </p:cNvPr>
        <p:cNvGrpSpPr/>
        <p:nvPr/>
      </p:nvGrpSpPr>
      <p:grpSpPr>
        <a:xfrm>
          <a:off x="0" y="0"/>
          <a:ext cx="0" cy="0"/>
          <a:chOff x="0" y="0"/>
          <a:chExt cx="0" cy="0"/>
        </a:xfrm>
      </p:grpSpPr>
      <p:sp>
        <p:nvSpPr>
          <p:cNvPr id="4" name="Rectangle">
            <a:extLst>
              <a:ext uri="{FF2B5EF4-FFF2-40B4-BE49-F238E27FC236}">
                <a16:creationId xmlns:a16="http://schemas.microsoft.com/office/drawing/2014/main" id="{B1FCDD3C-B347-BF24-137A-283426408738}"/>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00649D59-D070-3971-CEB8-EC93C5B55937}"/>
              </a:ext>
            </a:extLst>
          </p:cNvPr>
          <p:cNvSpPr txBox="1"/>
          <p:nvPr/>
        </p:nvSpPr>
        <p:spPr>
          <a:xfrm>
            <a:off x="480426" y="0"/>
            <a:ext cx="16832214"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latin typeface="Arial" panose="020B0604020202020204" pitchFamily="34" charset="0"/>
                <a:ea typeface="SimSun" panose="02010600030101010101" pitchFamily="2" charset="-122"/>
                <a:cs typeface="Arial" panose="020B0604020202020204" pitchFamily="34" charset="0"/>
              </a:rPr>
              <a:t>Логическая модель (структура таблиц)</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8" name="Rectangle 3">
            <a:extLst>
              <a:ext uri="{FF2B5EF4-FFF2-40B4-BE49-F238E27FC236}">
                <a16:creationId xmlns:a16="http://schemas.microsoft.com/office/drawing/2014/main" id="{131803A7-55E6-BF5F-69A9-26B088A8876D}"/>
              </a:ext>
            </a:extLst>
          </p:cNvPr>
          <p:cNvSpPr>
            <a:spLocks noChangeArrowheads="1"/>
          </p:cNvSpPr>
          <p:nvPr/>
        </p:nvSpPr>
        <p:spPr bwMode="auto">
          <a:xfrm>
            <a:off x="812800" y="2598844"/>
            <a:ext cx="19279637" cy="8899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Char char="•"/>
              <a:tabLst/>
            </a:pPr>
            <a:r>
              <a:rPr kumimoji="0" lang="ru-RU" altLang="ru-RU" sz="2800" b="1" i="0" u="none" strike="noStrike" cap="none" normalizeH="0" baseline="0" dirty="0">
                <a:ln>
                  <a:noFill/>
                </a:ln>
                <a:solidFill>
                  <a:schemeClr val="tx1"/>
                </a:solidFill>
                <a:effectLst/>
                <a:latin typeface="Arial" panose="020B0604020202020204" pitchFamily="34" charset="0"/>
              </a:rPr>
              <a:t>Организация:</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org_id</a:t>
            </a:r>
            <a:r>
              <a:rPr kumimoji="0" lang="ru-RU" altLang="ru-RU" sz="2800" b="0" i="0" u="none" strike="noStrike" cap="none" normalizeH="0" baseline="0" dirty="0">
                <a:ln>
                  <a:noFill/>
                </a:ln>
                <a:solidFill>
                  <a:schemeClr val="tx1"/>
                </a:solidFill>
                <a:effectLst/>
                <a:latin typeface="Arial" panose="020B0604020202020204" pitchFamily="34" charset="0"/>
              </a:rPr>
              <a:t> (Идентификатор), </a:t>
            </a:r>
            <a:r>
              <a:rPr kumimoji="0" lang="ru-RU" altLang="ru-RU" sz="2800" b="0" i="0" u="none" strike="noStrike" cap="none" normalizeH="0" baseline="0" dirty="0" err="1">
                <a:ln>
                  <a:noFill/>
                </a:ln>
                <a:solidFill>
                  <a:schemeClr val="tx1"/>
                </a:solidFill>
                <a:effectLst/>
                <a:latin typeface="Arial" panose="020B0604020202020204" pitchFamily="34" charset="0"/>
              </a:rPr>
              <a:t>full_name</a:t>
            </a:r>
            <a:r>
              <a:rPr kumimoji="0" lang="ru-RU" altLang="ru-RU" sz="2800" b="0" i="0" u="none" strike="noStrike" cap="none" normalizeH="0" baseline="0" dirty="0">
                <a:ln>
                  <a:noFill/>
                </a:ln>
                <a:solidFill>
                  <a:schemeClr val="tx1"/>
                </a:solidFill>
                <a:effectLst/>
                <a:latin typeface="Arial" panose="020B0604020202020204" pitchFamily="34" charset="0"/>
              </a:rPr>
              <a:t> (Полное наименование), </a:t>
            </a:r>
            <a:r>
              <a:rPr kumimoji="0" lang="ru-RU" altLang="ru-RU" sz="2800" b="0" i="0" u="none" strike="noStrike" cap="none" normalizeH="0" baseline="0" dirty="0" err="1">
                <a:ln>
                  <a:noFill/>
                </a:ln>
                <a:solidFill>
                  <a:schemeClr val="tx1"/>
                </a:solidFill>
                <a:effectLst/>
                <a:latin typeface="Arial" panose="020B0604020202020204" pitchFamily="34" charset="0"/>
              </a:rPr>
              <a:t>short_name</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okpo</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inn</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kpp</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created_at</a:t>
            </a:r>
            <a:r>
              <a:rPr kumimoji="0" lang="ru-RU" altLang="ru-RU"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ru-RU" altLang="ru-RU" sz="2800" b="1" i="0" u="none" strike="noStrike" cap="none" normalizeH="0" baseline="0" dirty="0">
                <a:ln>
                  <a:noFill/>
                </a:ln>
                <a:solidFill>
                  <a:schemeClr val="tx1"/>
                </a:solidFill>
                <a:effectLst/>
                <a:latin typeface="Arial" panose="020B0604020202020204" pitchFamily="34" charset="0"/>
              </a:rPr>
              <a:t>Подразделения:</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division_id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org_id</a:t>
            </a:r>
            <a:r>
              <a:rPr kumimoji="0" lang="ru-RU" altLang="ru-RU" sz="2800" b="0" i="0" u="none" strike="noStrike" cap="none" normalizeH="0" baseline="0" dirty="0">
                <a:ln>
                  <a:noFill/>
                </a:ln>
                <a:solidFill>
                  <a:schemeClr val="tx1"/>
                </a:solidFill>
                <a:effectLst/>
                <a:latin typeface="Arial" panose="020B0604020202020204" pitchFamily="34" charset="0"/>
              </a:rPr>
              <a:t> (Внешний ключ), </a:t>
            </a:r>
            <a:r>
              <a:rPr kumimoji="0" lang="ru-RU" altLang="ru-RU" sz="2800" b="0" i="0" u="none" strike="noStrike" cap="none" normalizeH="0" baseline="0" dirty="0" err="1">
                <a:ln>
                  <a:noFill/>
                </a:ln>
                <a:solidFill>
                  <a:schemeClr val="tx1"/>
                </a:solidFill>
                <a:effectLst/>
                <a:latin typeface="Arial" panose="020B0604020202020204" pitchFamily="34" charset="0"/>
              </a:rPr>
              <a:t>code</a:t>
            </a:r>
            <a:r>
              <a:rPr kumimoji="0" lang="ru-RU" altLang="ru-RU" sz="2800" b="0" i="0" u="none" strike="noStrike" cap="none" normalizeH="0" baseline="0" dirty="0">
                <a:ln>
                  <a:noFill/>
                </a:ln>
                <a:solidFill>
                  <a:schemeClr val="tx1"/>
                </a:solidFill>
                <a:effectLst/>
                <a:latin typeface="Arial" panose="020B0604020202020204" pitchFamily="34" charset="0"/>
              </a:rPr>
              <a:t> (01, 02), </a:t>
            </a:r>
            <a:r>
              <a:rPr kumimoji="0" lang="ru-RU" altLang="ru-RU" sz="2800" b="0" i="0" u="none" strike="noStrike" cap="none" normalizeH="0" baseline="0" dirty="0" err="1">
                <a:ln>
                  <a:noFill/>
                </a:ln>
                <a:solidFill>
                  <a:schemeClr val="tx1"/>
                </a:solidFill>
                <a:effectLst/>
                <a:latin typeface="Arial" panose="020B0604020202020204" pitchFamily="34" charset="0"/>
              </a:rPr>
              <a:t>name</a:t>
            </a:r>
            <a:r>
              <a:rPr kumimoji="0" lang="ru-RU" altLang="ru-RU" sz="2800" b="0" i="0" u="none" strike="noStrike" cap="none" normalizeH="0" baseline="0" dirty="0">
                <a:ln>
                  <a:noFill/>
                </a:ln>
                <a:solidFill>
                  <a:schemeClr val="tx1"/>
                </a:solidFill>
                <a:effectLst/>
                <a:latin typeface="Arial" panose="020B0604020202020204" pitchFamily="34" charset="0"/>
              </a:rPr>
              <a:t> (Администрация, отдел продаж).</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ru-RU" altLang="ru-RU" sz="2800" b="1" i="0" u="none" strike="noStrike" cap="none" normalizeH="0" baseline="0" dirty="0">
                <a:ln>
                  <a:noFill/>
                </a:ln>
                <a:solidFill>
                  <a:schemeClr val="tx1"/>
                </a:solidFill>
                <a:effectLst/>
                <a:latin typeface="Arial" panose="020B0604020202020204" pitchFamily="34" charset="0"/>
              </a:rPr>
              <a:t>Должность:</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position_id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name</a:t>
            </a:r>
            <a:r>
              <a:rPr kumimoji="0" lang="ru-RU" altLang="ru-RU" sz="2800" b="0" i="0" u="none" strike="noStrike" cap="none" normalizeH="0" baseline="0" dirty="0">
                <a:ln>
                  <a:noFill/>
                </a:ln>
                <a:solidFill>
                  <a:schemeClr val="tx1"/>
                </a:solidFill>
                <a:effectLst/>
                <a:latin typeface="Arial" panose="020B0604020202020204" pitchFamily="34" charset="0"/>
              </a:rPr>
              <a:t> (Генеральный директор, менеджер).</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ru-RU" altLang="ru-RU" sz="2800" b="1" i="0" u="none" strike="noStrike" cap="none" normalizeH="0" baseline="0" dirty="0">
                <a:ln>
                  <a:noFill/>
                </a:ln>
                <a:solidFill>
                  <a:schemeClr val="tx1"/>
                </a:solidFill>
                <a:effectLst/>
                <a:latin typeface="Arial" panose="020B0604020202020204" pitchFamily="34" charset="0"/>
              </a:rPr>
              <a:t>Вид надбавки:</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allowance_id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name</a:t>
            </a:r>
            <a:r>
              <a:rPr kumimoji="0" lang="ru-RU" altLang="ru-RU" sz="2800" b="0" i="0" u="none" strike="noStrike" cap="none" normalizeH="0" baseline="0" dirty="0">
                <a:ln>
                  <a:noFill/>
                </a:ln>
                <a:solidFill>
                  <a:schemeClr val="tx1"/>
                </a:solidFill>
                <a:effectLst/>
                <a:latin typeface="Arial" panose="020B0604020202020204" pitchFamily="34" charset="0"/>
              </a:rPr>
              <a:t> ("За стаж", "За классность"), </a:t>
            </a:r>
            <a:r>
              <a:rPr kumimoji="0" lang="ru-RU" altLang="ru-RU" sz="2800" b="0" i="0" u="none" strike="noStrike" cap="none" normalizeH="0" baseline="0" dirty="0" err="1">
                <a:ln>
                  <a:noFill/>
                </a:ln>
                <a:solidFill>
                  <a:schemeClr val="tx1"/>
                </a:solidFill>
                <a:effectLst/>
                <a:latin typeface="Arial" panose="020B0604020202020204" pitchFamily="34" charset="0"/>
              </a:rPr>
              <a:t>display_order</a:t>
            </a:r>
            <a:r>
              <a:rPr kumimoji="0" lang="ru-RU" altLang="ru-RU"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ru-RU" altLang="ru-RU" sz="2800" b="1" i="0" u="none" strike="noStrike" cap="none" normalizeH="0" baseline="0" dirty="0">
                <a:ln>
                  <a:noFill/>
                </a:ln>
                <a:solidFill>
                  <a:schemeClr val="tx1"/>
                </a:solidFill>
                <a:effectLst/>
                <a:latin typeface="Arial" panose="020B0604020202020204" pitchFamily="34" charset="0"/>
              </a:rPr>
              <a:t>Документ штатного расписания:</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doc_id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org_id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doc_number</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doc_date</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order_number</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order_date</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total_units</a:t>
            </a:r>
            <a:r>
              <a:rPr kumimoji="0" lang="ru-RU" altLang="ru-RU"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ru-RU" altLang="ru-RU" sz="2800" b="1" i="0" u="none" strike="noStrike" cap="none" normalizeH="0" baseline="0" dirty="0">
                <a:ln>
                  <a:noFill/>
                </a:ln>
                <a:solidFill>
                  <a:schemeClr val="tx1"/>
                </a:solidFill>
                <a:effectLst/>
                <a:latin typeface="Arial" panose="020B0604020202020204" pitchFamily="34" charset="0"/>
              </a:rPr>
              <a:t>Строка штатного расписания:</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line_id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doc_id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division_id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position_id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quantity</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salary</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note</a:t>
            </a:r>
            <a:r>
              <a:rPr kumimoji="0" lang="ru-RU" altLang="ru-RU"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ru-RU" altLang="ru-RU" sz="2800" b="1" i="0" u="none" strike="noStrike" cap="none" normalizeH="0" baseline="0" dirty="0">
                <a:ln>
                  <a:noFill/>
                </a:ln>
                <a:solidFill>
                  <a:schemeClr val="tx1"/>
                </a:solidFill>
                <a:effectLst/>
                <a:latin typeface="Arial" panose="020B0604020202020204" pitchFamily="34" charset="0"/>
              </a:rPr>
              <a:t>Надбавка по строке:</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line_id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allowance_id</a:t>
            </a:r>
            <a:r>
              <a:rPr kumimoji="0" lang="ru-RU" altLang="ru-RU" sz="2800" b="0" i="0" u="none" strike="noStrike" cap="none" normalizeH="0" baseline="0" dirty="0">
                <a:ln>
                  <a:noFill/>
                </a:ln>
                <a:solidFill>
                  <a:schemeClr val="tx1"/>
                </a:solidFill>
                <a:effectLst/>
                <a:latin typeface="Arial" panose="020B0604020202020204" pitchFamily="34" charset="0"/>
              </a:rPr>
              <a:t>, </a:t>
            </a:r>
            <a:r>
              <a:rPr kumimoji="0" lang="ru-RU" altLang="ru-RU" sz="2800" b="0" i="0" u="none" strike="noStrike" cap="none" normalizeH="0" baseline="0" dirty="0" err="1">
                <a:ln>
                  <a:noFill/>
                </a:ln>
                <a:solidFill>
                  <a:schemeClr val="tx1"/>
                </a:solidFill>
                <a:effectLst/>
                <a:latin typeface="Arial" panose="020B0604020202020204" pitchFamily="34" charset="0"/>
              </a:rPr>
              <a:t>amount</a:t>
            </a:r>
            <a:r>
              <a:rPr kumimoji="0" lang="ru-RU" altLang="ru-RU" sz="2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21592468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15AA2-7CFF-5081-F351-AA3A92CEE30D}"/>
            </a:ext>
          </a:extLst>
        </p:cNvPr>
        <p:cNvGrpSpPr/>
        <p:nvPr/>
      </p:nvGrpSpPr>
      <p:grpSpPr>
        <a:xfrm>
          <a:off x="0" y="0"/>
          <a:ext cx="0" cy="0"/>
          <a:chOff x="0" y="0"/>
          <a:chExt cx="0" cy="0"/>
        </a:xfrm>
      </p:grpSpPr>
      <p:sp>
        <p:nvSpPr>
          <p:cNvPr id="4" name="Rectangle">
            <a:extLst>
              <a:ext uri="{FF2B5EF4-FFF2-40B4-BE49-F238E27FC236}">
                <a16:creationId xmlns:a16="http://schemas.microsoft.com/office/drawing/2014/main" id="{31646384-A6BE-F5AC-F202-5BF460604346}"/>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29DD2770-13C7-16B2-3F3B-AA208DD696E3}"/>
              </a:ext>
            </a:extLst>
          </p:cNvPr>
          <p:cNvSpPr txBox="1"/>
          <p:nvPr/>
        </p:nvSpPr>
        <p:spPr>
          <a:xfrm>
            <a:off x="480426" y="0"/>
            <a:ext cx="16832214"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SimSun" panose="02010600030101010101" pitchFamily="2" charset="-122"/>
                <a:cs typeface="Arial" panose="020B0604020202020204" pitchFamily="34" charset="0"/>
              </a:rPr>
              <a:t>Физическая модель</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6" name="TextBox 5">
            <a:extLst>
              <a:ext uri="{FF2B5EF4-FFF2-40B4-BE49-F238E27FC236}">
                <a16:creationId xmlns:a16="http://schemas.microsoft.com/office/drawing/2014/main" id="{02D3ED7D-9FB6-C9FD-7596-905C502221F0}"/>
              </a:ext>
            </a:extLst>
          </p:cNvPr>
          <p:cNvSpPr txBox="1"/>
          <p:nvPr/>
        </p:nvSpPr>
        <p:spPr>
          <a:xfrm>
            <a:off x="1463040" y="2716967"/>
            <a:ext cx="13004800" cy="76068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300000"/>
              </a:lnSpc>
            </a:pPr>
            <a:r>
              <a:rPr lang="ru-RU" sz="2800" dirty="0">
                <a:latin typeface="Arial" panose="020B0604020202020204" pitchFamily="34" charset="0"/>
                <a:cs typeface="Arial" panose="020B0604020202020204" pitchFamily="34" charset="0"/>
              </a:rPr>
              <a:t>Описание: </a:t>
            </a:r>
            <a:r>
              <a:rPr lang="ru-RU" sz="2800" b="0" dirty="0">
                <a:latin typeface="Arial" panose="020B0604020202020204" pitchFamily="34" charset="0"/>
                <a:cs typeface="Arial" panose="020B0604020202020204" pitchFamily="34" charset="0"/>
              </a:rPr>
              <a:t>Данная база данных разработана для учёта штатного расписания организации и включает таблицы </a:t>
            </a:r>
            <a:r>
              <a:rPr lang="ru-RU" sz="2800" b="0" dirty="0" err="1">
                <a:latin typeface="Arial" panose="020B0604020202020204" pitchFamily="34" charset="0"/>
                <a:cs typeface="Arial" panose="020B0604020202020204" pitchFamily="34" charset="0"/>
              </a:rPr>
              <a:t>organizations</a:t>
            </a:r>
            <a:r>
              <a:rPr lang="ru-RU" sz="2800" b="0" dirty="0">
                <a:latin typeface="Arial" panose="020B0604020202020204" pitchFamily="34" charset="0"/>
                <a:cs typeface="Arial" panose="020B0604020202020204" pitchFamily="34" charset="0"/>
              </a:rPr>
              <a:t>, </a:t>
            </a:r>
            <a:r>
              <a:rPr lang="ru-RU" sz="2800" b="0" dirty="0" err="1">
                <a:latin typeface="Arial" panose="020B0604020202020204" pitchFamily="34" charset="0"/>
                <a:cs typeface="Arial" panose="020B0604020202020204" pitchFamily="34" charset="0"/>
              </a:rPr>
              <a:t>divisions</a:t>
            </a:r>
            <a:r>
              <a:rPr lang="ru-RU" sz="2800" b="0" dirty="0">
                <a:latin typeface="Arial" panose="020B0604020202020204" pitchFamily="34" charset="0"/>
                <a:cs typeface="Arial" panose="020B0604020202020204" pitchFamily="34" charset="0"/>
              </a:rPr>
              <a:t>, </a:t>
            </a:r>
            <a:r>
              <a:rPr lang="ru-RU" sz="2800" b="0" dirty="0" err="1">
                <a:latin typeface="Arial" panose="020B0604020202020204" pitchFamily="34" charset="0"/>
                <a:cs typeface="Arial" panose="020B0604020202020204" pitchFamily="34" charset="0"/>
              </a:rPr>
              <a:t>positions</a:t>
            </a:r>
            <a:r>
              <a:rPr lang="ru-RU" sz="2800" b="0" dirty="0">
                <a:latin typeface="Arial" panose="020B0604020202020204" pitchFamily="34" charset="0"/>
                <a:cs typeface="Arial" panose="020B0604020202020204" pitchFamily="34" charset="0"/>
              </a:rPr>
              <a:t>, </a:t>
            </a:r>
            <a:r>
              <a:rPr lang="ru-RU" sz="2800" b="0" dirty="0" err="1">
                <a:latin typeface="Arial" panose="020B0604020202020204" pitchFamily="34" charset="0"/>
                <a:cs typeface="Arial" panose="020B0604020202020204" pitchFamily="34" charset="0"/>
              </a:rPr>
              <a:t>staffing_documents</a:t>
            </a:r>
            <a:r>
              <a:rPr lang="ru-RU" sz="2800" b="0" dirty="0">
                <a:latin typeface="Arial" panose="020B0604020202020204" pitchFamily="34" charset="0"/>
                <a:cs typeface="Arial" panose="020B0604020202020204" pitchFamily="34" charset="0"/>
              </a:rPr>
              <a:t> и </a:t>
            </a:r>
            <a:r>
              <a:rPr lang="ru-RU" sz="2800" b="0" dirty="0" err="1">
                <a:latin typeface="Arial" panose="020B0604020202020204" pitchFamily="34" charset="0"/>
                <a:cs typeface="Arial" panose="020B0604020202020204" pitchFamily="34" charset="0"/>
              </a:rPr>
              <a:t>staffing_lines</a:t>
            </a:r>
            <a:r>
              <a:rPr lang="ru-RU" sz="2800" b="0" dirty="0">
                <a:latin typeface="Arial" panose="020B0604020202020204" pitchFamily="34" charset="0"/>
                <a:cs typeface="Arial" panose="020B0604020202020204" pitchFamily="34" charset="0"/>
              </a:rPr>
              <a:t>.</a:t>
            </a:r>
          </a:p>
          <a:p>
            <a:pPr algn="l">
              <a:lnSpc>
                <a:spcPct val="300000"/>
              </a:lnSpc>
            </a:pPr>
            <a:r>
              <a:rPr lang="ru-RU" sz="2800" dirty="0">
                <a:latin typeface="Arial" panose="020B0604020202020204" pitchFamily="34" charset="0"/>
                <a:cs typeface="Arial" panose="020B0604020202020204" pitchFamily="34" charset="0"/>
              </a:rPr>
              <a:t>Состав данных: </a:t>
            </a:r>
            <a:r>
              <a:rPr lang="ru-RU" sz="2800" b="0" dirty="0">
                <a:latin typeface="Arial" panose="020B0604020202020204" pitchFamily="34" charset="0"/>
                <a:cs typeface="Arial" panose="020B0604020202020204" pitchFamily="34" charset="0"/>
              </a:rPr>
              <a:t>В ней хранятся данные о структуре предприятия, должностях, окладах и утверждённых штатных документах.</a:t>
            </a:r>
          </a:p>
          <a:p>
            <a:pPr algn="l">
              <a:lnSpc>
                <a:spcPct val="300000"/>
              </a:lnSpc>
            </a:pPr>
            <a:r>
              <a:rPr lang="ru-RU" sz="2800" dirty="0">
                <a:latin typeface="Arial" panose="020B0604020202020204" pitchFamily="34" charset="0"/>
                <a:cs typeface="Arial" panose="020B0604020202020204" pitchFamily="34" charset="0"/>
              </a:rPr>
              <a:t>Результат: </a:t>
            </a:r>
            <a:r>
              <a:rPr lang="ru-RU" sz="2800" b="0" dirty="0">
                <a:latin typeface="Arial" panose="020B0604020202020204" pitchFamily="34" charset="0"/>
                <a:cs typeface="Arial" panose="020B0604020202020204" pitchFamily="34" charset="0"/>
              </a:rPr>
              <a:t>Позволяет формировать штатное расписание по форме Т-3.</a:t>
            </a:r>
          </a:p>
        </p:txBody>
      </p:sp>
    </p:spTree>
    <p:extLst>
      <p:ext uri="{BB962C8B-B14F-4D97-AF65-F5344CB8AC3E}">
        <p14:creationId xmlns:p14="http://schemas.microsoft.com/office/powerpoint/2010/main" val="191132030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A724B-6AC8-2404-AC61-38638529358B}"/>
            </a:ext>
          </a:extLst>
        </p:cNvPr>
        <p:cNvGrpSpPr/>
        <p:nvPr/>
      </p:nvGrpSpPr>
      <p:grpSpPr>
        <a:xfrm>
          <a:off x="0" y="0"/>
          <a:ext cx="0" cy="0"/>
          <a:chOff x="0" y="0"/>
          <a:chExt cx="0" cy="0"/>
        </a:xfrm>
      </p:grpSpPr>
      <p:sp>
        <p:nvSpPr>
          <p:cNvPr id="4" name="Rectangle">
            <a:extLst>
              <a:ext uri="{FF2B5EF4-FFF2-40B4-BE49-F238E27FC236}">
                <a16:creationId xmlns:a16="http://schemas.microsoft.com/office/drawing/2014/main" id="{5ABE23FF-2BC7-B5AF-E602-4D6293911A7B}"/>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20577C85-6FF4-DEB4-A248-3BEC2FB2BC53}"/>
              </a:ext>
            </a:extLst>
          </p:cNvPr>
          <p:cNvSpPr txBox="1"/>
          <p:nvPr/>
        </p:nvSpPr>
        <p:spPr>
          <a:xfrm>
            <a:off x="480426" y="0"/>
            <a:ext cx="16832214"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SimSun" panose="02010600030101010101" pitchFamily="2" charset="-122"/>
                <a:cs typeface="Arial" panose="020B0604020202020204" pitchFamily="34" charset="0"/>
              </a:rPr>
              <a:t>Физическая модель</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2" name="Рисунок 1">
            <a:extLst>
              <a:ext uri="{FF2B5EF4-FFF2-40B4-BE49-F238E27FC236}">
                <a16:creationId xmlns:a16="http://schemas.microsoft.com/office/drawing/2014/main" id="{BE9BEEBF-4867-1530-0770-E252F48B9C41}"/>
              </a:ext>
            </a:extLst>
          </p:cNvPr>
          <p:cNvPicPr>
            <a:picLocks noChangeAspect="1"/>
          </p:cNvPicPr>
          <p:nvPr/>
        </p:nvPicPr>
        <p:blipFill>
          <a:blip r:embed="rId2"/>
          <a:srcRect l="15853" r="44110" b="30844"/>
          <a:stretch>
            <a:fillRect/>
          </a:stretch>
        </p:blipFill>
        <p:spPr>
          <a:xfrm>
            <a:off x="1411638" y="2664000"/>
            <a:ext cx="8633497" cy="8388000"/>
          </a:xfrm>
          <a:prstGeom prst="rect">
            <a:avLst/>
          </a:prstGeom>
        </p:spPr>
      </p:pic>
      <p:pic>
        <p:nvPicPr>
          <p:cNvPr id="3" name="Рисунок 2">
            <a:extLst>
              <a:ext uri="{FF2B5EF4-FFF2-40B4-BE49-F238E27FC236}">
                <a16:creationId xmlns:a16="http://schemas.microsoft.com/office/drawing/2014/main" id="{1883C4E7-97BA-0182-8451-F0B47F1EAE84}"/>
              </a:ext>
            </a:extLst>
          </p:cNvPr>
          <p:cNvPicPr>
            <a:picLocks noChangeAspect="1"/>
          </p:cNvPicPr>
          <p:nvPr/>
        </p:nvPicPr>
        <p:blipFill>
          <a:blip r:embed="rId3"/>
          <a:srcRect l="15110" r="21267" b="23546"/>
          <a:stretch>
            <a:fillRect/>
          </a:stretch>
        </p:blipFill>
        <p:spPr>
          <a:xfrm>
            <a:off x="11467403" y="3186000"/>
            <a:ext cx="11504959" cy="7344000"/>
          </a:xfrm>
          <a:prstGeom prst="rect">
            <a:avLst/>
          </a:prstGeom>
        </p:spPr>
      </p:pic>
    </p:spTree>
    <p:extLst>
      <p:ext uri="{BB962C8B-B14F-4D97-AF65-F5344CB8AC3E}">
        <p14:creationId xmlns:p14="http://schemas.microsoft.com/office/powerpoint/2010/main" val="132609622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F692-0EFA-EB42-2F4C-0372F60FC221}"/>
            </a:ext>
          </a:extLst>
        </p:cNvPr>
        <p:cNvGrpSpPr/>
        <p:nvPr/>
      </p:nvGrpSpPr>
      <p:grpSpPr>
        <a:xfrm>
          <a:off x="0" y="0"/>
          <a:ext cx="0" cy="0"/>
          <a:chOff x="0" y="0"/>
          <a:chExt cx="0" cy="0"/>
        </a:xfrm>
      </p:grpSpPr>
      <p:sp>
        <p:nvSpPr>
          <p:cNvPr id="4" name="Rectangle">
            <a:extLst>
              <a:ext uri="{FF2B5EF4-FFF2-40B4-BE49-F238E27FC236}">
                <a16:creationId xmlns:a16="http://schemas.microsoft.com/office/drawing/2014/main" id="{F99BFC99-0B3F-3BC7-A8FB-15A5DD50D89B}"/>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D9EB6057-6D79-F627-2991-12C600B8D7F6}"/>
              </a:ext>
            </a:extLst>
          </p:cNvPr>
          <p:cNvSpPr txBox="1"/>
          <p:nvPr/>
        </p:nvSpPr>
        <p:spPr>
          <a:xfrm>
            <a:off x="480426" y="0"/>
            <a:ext cx="16832214"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SimSun" panose="02010600030101010101" pitchFamily="2" charset="-122"/>
                <a:cs typeface="Arial" panose="020B0604020202020204" pitchFamily="34" charset="0"/>
              </a:rPr>
              <a:t>Физическая модель</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7" name="Рисунок 6">
            <a:extLst>
              <a:ext uri="{FF2B5EF4-FFF2-40B4-BE49-F238E27FC236}">
                <a16:creationId xmlns:a16="http://schemas.microsoft.com/office/drawing/2014/main" id="{D4A016EA-7A4A-E65E-3B04-C64C7FA89FE8}"/>
              </a:ext>
            </a:extLst>
          </p:cNvPr>
          <p:cNvPicPr>
            <a:picLocks noChangeAspect="1"/>
          </p:cNvPicPr>
          <p:nvPr/>
        </p:nvPicPr>
        <p:blipFill>
          <a:blip r:embed="rId2"/>
          <a:srcRect l="16297" r="41706" b="40686"/>
          <a:stretch>
            <a:fillRect/>
          </a:stretch>
        </p:blipFill>
        <p:spPr>
          <a:xfrm>
            <a:off x="738188" y="2635120"/>
            <a:ext cx="11465277" cy="9108000"/>
          </a:xfrm>
          <a:prstGeom prst="rect">
            <a:avLst/>
          </a:prstGeom>
        </p:spPr>
      </p:pic>
      <p:pic>
        <p:nvPicPr>
          <p:cNvPr id="8" name="Рисунок 7">
            <a:extLst>
              <a:ext uri="{FF2B5EF4-FFF2-40B4-BE49-F238E27FC236}">
                <a16:creationId xmlns:a16="http://schemas.microsoft.com/office/drawing/2014/main" id="{D65DFB04-7D80-25C0-AAA6-9A8498D37B85}"/>
              </a:ext>
            </a:extLst>
          </p:cNvPr>
          <p:cNvPicPr>
            <a:picLocks noChangeAspect="1"/>
          </p:cNvPicPr>
          <p:nvPr/>
        </p:nvPicPr>
        <p:blipFill>
          <a:blip r:embed="rId3"/>
          <a:srcRect l="15623" r="38883" b="36925"/>
          <a:stretch>
            <a:fillRect/>
          </a:stretch>
        </p:blipFill>
        <p:spPr>
          <a:xfrm>
            <a:off x="12889815" y="2664000"/>
            <a:ext cx="10755997" cy="8388000"/>
          </a:xfrm>
          <a:prstGeom prst="rect">
            <a:avLst/>
          </a:prstGeom>
        </p:spPr>
      </p:pic>
    </p:spTree>
    <p:extLst>
      <p:ext uri="{BB962C8B-B14F-4D97-AF65-F5344CB8AC3E}">
        <p14:creationId xmlns:p14="http://schemas.microsoft.com/office/powerpoint/2010/main" val="206036384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6714A-F972-34C3-CF16-99E1511AB9BF}"/>
            </a:ext>
          </a:extLst>
        </p:cNvPr>
        <p:cNvGrpSpPr/>
        <p:nvPr/>
      </p:nvGrpSpPr>
      <p:grpSpPr>
        <a:xfrm>
          <a:off x="0" y="0"/>
          <a:ext cx="0" cy="0"/>
          <a:chOff x="0" y="0"/>
          <a:chExt cx="0" cy="0"/>
        </a:xfrm>
      </p:grpSpPr>
      <p:sp>
        <p:nvSpPr>
          <p:cNvPr id="4" name="Rectangle">
            <a:extLst>
              <a:ext uri="{FF2B5EF4-FFF2-40B4-BE49-F238E27FC236}">
                <a16:creationId xmlns:a16="http://schemas.microsoft.com/office/drawing/2014/main" id="{B4FCA3EB-383E-6703-3B2A-8B3173950041}"/>
              </a:ext>
            </a:extLst>
          </p:cNvPr>
          <p:cNvSpPr/>
          <p:nvPr/>
        </p:nvSpPr>
        <p:spPr>
          <a:xfrm>
            <a:off x="0" y="0"/>
            <a:ext cx="16662400" cy="1971040"/>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All the world is made of faith, and trust, and pixie dust.">
            <a:extLst>
              <a:ext uri="{FF2B5EF4-FFF2-40B4-BE49-F238E27FC236}">
                <a16:creationId xmlns:a16="http://schemas.microsoft.com/office/drawing/2014/main" id="{2181783D-E07A-91E2-68B3-9C4FBF5E4452}"/>
              </a:ext>
            </a:extLst>
          </p:cNvPr>
          <p:cNvSpPr txBox="1"/>
          <p:nvPr/>
        </p:nvSpPr>
        <p:spPr>
          <a:xfrm>
            <a:off x="480426" y="0"/>
            <a:ext cx="16832214" cy="1074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nSpc>
                <a:spcPct val="115000"/>
              </a:lnSpc>
              <a:spcBef>
                <a:spcPts val="200"/>
              </a:spcBef>
            </a:pPr>
            <a:r>
              <a:rPr lang="ru-RU" sz="6000" b="1" kern="100" dirty="0">
                <a:solidFill>
                  <a:schemeClr val="bg1"/>
                </a:solidFill>
                <a:effectLst/>
                <a:latin typeface="Arial" panose="020B0604020202020204" pitchFamily="34" charset="0"/>
                <a:ea typeface="SimSun" panose="02010600030101010101" pitchFamily="2" charset="-122"/>
                <a:cs typeface="Arial" panose="020B0604020202020204" pitchFamily="34" charset="0"/>
              </a:rPr>
              <a:t>Физическая модель</a:t>
            </a:r>
            <a:endParaRPr lang="ru-RU" sz="6000" b="1" kern="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2" name="Рисунок 1">
            <a:extLst>
              <a:ext uri="{FF2B5EF4-FFF2-40B4-BE49-F238E27FC236}">
                <a16:creationId xmlns:a16="http://schemas.microsoft.com/office/drawing/2014/main" id="{5636DA3E-ECF4-9D99-0829-F83F8350DDC2}"/>
              </a:ext>
            </a:extLst>
          </p:cNvPr>
          <p:cNvPicPr>
            <a:picLocks noChangeAspect="1"/>
          </p:cNvPicPr>
          <p:nvPr/>
        </p:nvPicPr>
        <p:blipFill>
          <a:blip r:embed="rId2"/>
          <a:srcRect l="15109" r="37686" b="27195"/>
          <a:stretch>
            <a:fillRect/>
          </a:stretch>
        </p:blipFill>
        <p:spPr>
          <a:xfrm>
            <a:off x="1137838" y="2664000"/>
            <a:ext cx="9668819" cy="8388000"/>
          </a:xfrm>
          <a:prstGeom prst="rect">
            <a:avLst/>
          </a:prstGeom>
        </p:spPr>
      </p:pic>
      <p:pic>
        <p:nvPicPr>
          <p:cNvPr id="3" name="Рисунок 2">
            <a:extLst>
              <a:ext uri="{FF2B5EF4-FFF2-40B4-BE49-F238E27FC236}">
                <a16:creationId xmlns:a16="http://schemas.microsoft.com/office/drawing/2014/main" id="{F0A3F501-D1D8-2D29-ABE5-F5CB19A651FB}"/>
              </a:ext>
            </a:extLst>
          </p:cNvPr>
          <p:cNvPicPr>
            <a:picLocks noChangeAspect="1"/>
          </p:cNvPicPr>
          <p:nvPr/>
        </p:nvPicPr>
        <p:blipFill>
          <a:blip r:embed="rId3"/>
          <a:srcRect l="15965" r="26910" b="24459"/>
          <a:stretch>
            <a:fillRect/>
          </a:stretch>
        </p:blipFill>
        <p:spPr>
          <a:xfrm>
            <a:off x="11969393" y="2664000"/>
            <a:ext cx="11276769" cy="8388000"/>
          </a:xfrm>
          <a:prstGeom prst="rect">
            <a:avLst/>
          </a:prstGeom>
        </p:spPr>
      </p:pic>
    </p:spTree>
    <p:extLst>
      <p:ext uri="{BB962C8B-B14F-4D97-AF65-F5344CB8AC3E}">
        <p14:creationId xmlns:p14="http://schemas.microsoft.com/office/powerpoint/2010/main" val="407694331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DBACF-4B71-424B-25E3-37E7D196023E}"/>
            </a:ext>
          </a:extLst>
        </p:cNvPr>
        <p:cNvGrpSpPr/>
        <p:nvPr/>
      </p:nvGrpSpPr>
      <p:grpSpPr>
        <a:xfrm>
          <a:off x="0" y="0"/>
          <a:ext cx="0" cy="0"/>
          <a:chOff x="0" y="0"/>
          <a:chExt cx="0" cy="0"/>
        </a:xfrm>
      </p:grpSpPr>
      <p:sp>
        <p:nvSpPr>
          <p:cNvPr id="58" name="Placeholder Demo Text">
            <a:extLst>
              <a:ext uri="{FF2B5EF4-FFF2-40B4-BE49-F238E27FC236}">
                <a16:creationId xmlns:a16="http://schemas.microsoft.com/office/drawing/2014/main" id="{97A54DB6-9771-F10D-5B98-3267B5EECB37}"/>
              </a:ext>
            </a:extLst>
          </p:cNvPr>
          <p:cNvSpPr txBox="1"/>
          <p:nvPr/>
        </p:nvSpPr>
        <p:spPr>
          <a:xfrm>
            <a:off x="1427163" y="1373373"/>
            <a:ext cx="12468450" cy="12311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chemeClr val="accent2"/>
                </a:solidFill>
                <a:latin typeface="Arial" panose="020B0604020202020204" pitchFamily="34" charset="0"/>
                <a:cs typeface="Arial" panose="020B0604020202020204" pitchFamily="34" charset="0"/>
              </a:rPr>
              <a:t>Вывод</a:t>
            </a:r>
            <a:endParaRPr b="1" dirty="0">
              <a:solidFill>
                <a:schemeClr val="accent2"/>
              </a:solidFill>
              <a:latin typeface="Arial" panose="020B0604020202020204" pitchFamily="34" charset="0"/>
              <a:cs typeface="Arial" panose="020B0604020202020204" pitchFamily="34" charset="0"/>
            </a:endParaRPr>
          </a:p>
        </p:txBody>
      </p:sp>
      <p:sp>
        <p:nvSpPr>
          <p:cNvPr id="60" name="Rectangle">
            <a:extLst>
              <a:ext uri="{FF2B5EF4-FFF2-40B4-BE49-F238E27FC236}">
                <a16:creationId xmlns:a16="http://schemas.microsoft.com/office/drawing/2014/main" id="{CF8D8F94-A8BF-74C6-9CB4-1B32C5C3F347}"/>
              </a:ext>
            </a:extLst>
          </p:cNvPr>
          <p:cNvSpPr/>
          <p:nvPr/>
        </p:nvSpPr>
        <p:spPr>
          <a:xfrm>
            <a:off x="1427163" y="1162050"/>
            <a:ext cx="3158692" cy="116630"/>
          </a:xfrm>
          <a:prstGeom prst="rect">
            <a:avLst/>
          </a:prstGeom>
          <a:solidFill>
            <a:schemeClr val="accent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61" name="Subtitle Text">
            <a:extLst>
              <a:ext uri="{FF2B5EF4-FFF2-40B4-BE49-F238E27FC236}">
                <a16:creationId xmlns:a16="http://schemas.microsoft.com/office/drawing/2014/main" id="{873B8BC9-F47E-E75D-BDE7-A608C4D94B0E}"/>
              </a:ext>
            </a:extLst>
          </p:cNvPr>
          <p:cNvSpPr/>
          <p:nvPr/>
        </p:nvSpPr>
        <p:spPr>
          <a:xfrm>
            <a:off x="1427164" y="2266950"/>
            <a:ext cx="3322710" cy="33753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solidFill>
            <a:schemeClr val="accent2"/>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endParaRPr sz="1401" dirty="0">
              <a:solidFill>
                <a:srgbClr val="171F29"/>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9A0F312-D41C-F9BB-BCEA-54D73104CE15}"/>
              </a:ext>
            </a:extLst>
          </p:cNvPr>
          <p:cNvSpPr txBox="1"/>
          <p:nvPr/>
        </p:nvSpPr>
        <p:spPr>
          <a:xfrm>
            <a:off x="1427163" y="3498056"/>
            <a:ext cx="21234400" cy="84148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buNone/>
            </a:pPr>
            <a:r>
              <a:rPr lang="ru-RU" sz="2800" b="0" dirty="0">
                <a:effectLst/>
                <a:latin typeface="Arial" panose="020B0604020202020204" pitchFamily="34" charset="0"/>
                <a:cs typeface="Arial" panose="020B0604020202020204" pitchFamily="34" charset="0"/>
              </a:rPr>
              <a:t>В ходе выполнения лабораторной работы был проведён реквизитный анализ экономического документа — штатного расписания по унифицированной форме Т-3. Были выявлены и классифицированы все основные реквизиты документа, определены их типы (признаки и основания), а также рассмотрены финансово-экономические показатели, включая оклады, надбавки, численность персонала и фонд оплаты труда.</a:t>
            </a:r>
          </a:p>
          <a:p>
            <a:pPr algn="l">
              <a:lnSpc>
                <a:spcPct val="150000"/>
              </a:lnSpc>
              <a:buNone/>
            </a:pPr>
            <a:r>
              <a:rPr lang="ru-RU" sz="2800" b="0" dirty="0">
                <a:effectLst/>
                <a:latin typeface="Arial" panose="020B0604020202020204" pitchFamily="34" charset="0"/>
                <a:cs typeface="Arial" panose="020B0604020202020204" pitchFamily="34" charset="0"/>
              </a:rPr>
              <a:t>В работе было изучено назначение и основные элементы стандарта BPMN 2.0. На основе полученной информации разработана диаграмма бизнес-процесса формирования и утверждения штатного расписания с распределением зон ответственности между отделом кадров, бухгалтерией и руководителем организации.</a:t>
            </a:r>
          </a:p>
          <a:p>
            <a:pPr algn="l">
              <a:lnSpc>
                <a:spcPct val="150000"/>
              </a:lnSpc>
              <a:buNone/>
            </a:pPr>
            <a:r>
              <a:rPr lang="ru-RU" sz="2800" b="0" dirty="0">
                <a:effectLst/>
                <a:latin typeface="Arial" panose="020B0604020202020204" pitchFamily="34" charset="0"/>
                <a:cs typeface="Arial" panose="020B0604020202020204" pitchFamily="34" charset="0"/>
              </a:rPr>
              <a:t>Также были разработаны концептуальная, логическая и физическая модели базы данных для автоматизации хранения и обработки информации по штатному расписанию. Определены основные сущности, их атрибуты, ключи и связи, обеспечивающие целостность и структурированность данных.</a:t>
            </a:r>
          </a:p>
          <a:p>
            <a:pPr algn="l">
              <a:lnSpc>
                <a:spcPct val="150000"/>
              </a:lnSpc>
              <a:buNone/>
            </a:pPr>
            <a:r>
              <a:rPr lang="ru-RU" sz="2800" b="0" dirty="0">
                <a:effectLst/>
                <a:latin typeface="Arial" panose="020B0604020202020204" pitchFamily="34" charset="0"/>
                <a:cs typeface="Arial" panose="020B0604020202020204" pitchFamily="34" charset="0"/>
              </a:rPr>
              <a:t>В результате выполнения лабораторной работы были закреплены навыки реквизитного анализа документов, моделирования бизнес-процессов и проектирования базы данных для </a:t>
            </a:r>
            <a:r>
              <a:rPr lang="ru-RU" sz="2800" b="0" dirty="0" err="1">
                <a:effectLst/>
                <a:latin typeface="Arial" panose="020B0604020202020204" pitchFamily="34" charset="0"/>
                <a:cs typeface="Arial" panose="020B0604020202020204" pitchFamily="34" charset="0"/>
              </a:rPr>
              <a:t>внутримашинного</a:t>
            </a:r>
            <a:r>
              <a:rPr lang="ru-RU" sz="2800" b="0" dirty="0">
                <a:effectLst/>
                <a:latin typeface="Arial" panose="020B0604020202020204" pitchFamily="34" charset="0"/>
                <a:cs typeface="Arial" panose="020B0604020202020204" pitchFamily="34" charset="0"/>
              </a:rPr>
              <a:t> представления экономической информации.</a:t>
            </a:r>
          </a:p>
          <a:p>
            <a:pPr algn="l">
              <a:lnSpc>
                <a:spcPct val="150000"/>
              </a:lnSpc>
              <a:buNone/>
            </a:pPr>
            <a:r>
              <a:rPr lang="ru-RU" sz="2800" b="0" dirty="0">
                <a:effectLst/>
                <a:latin typeface="Arial" panose="020B0604020202020204" pitchFamily="34" charset="0"/>
                <a:ea typeface="SimSun" panose="02010600030101010101" pitchFamily="2" charset="-122"/>
                <a:cs typeface="Arial" panose="020B0604020202020204" pitchFamily="34" charset="0"/>
              </a:rPr>
              <a:t> </a:t>
            </a:r>
          </a:p>
        </p:txBody>
      </p:sp>
    </p:spTree>
    <p:extLst>
      <p:ext uri="{BB962C8B-B14F-4D97-AF65-F5344CB8AC3E}">
        <p14:creationId xmlns:p14="http://schemas.microsoft.com/office/powerpoint/2010/main" val="4492097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8771-F6A7-8CE4-529C-6DFE03F324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B139557-0DC5-BEDE-6972-DB6CB218BCE6}"/>
              </a:ext>
            </a:extLst>
          </p:cNvPr>
          <p:cNvSpPr/>
          <p:nvPr/>
        </p:nvSpPr>
        <p:spPr>
          <a:xfrm>
            <a:off x="0" y="0"/>
            <a:ext cx="24384000" cy="13716000"/>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x-none"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Рисунок 2">
            <a:extLst>
              <a:ext uri="{FF2B5EF4-FFF2-40B4-BE49-F238E27FC236}">
                <a16:creationId xmlns:a16="http://schemas.microsoft.com/office/drawing/2014/main" id="{8C653170-95E6-A1F3-81FD-DD2A19124E6E}"/>
              </a:ext>
            </a:extLst>
          </p:cNvPr>
          <p:cNvPicPr>
            <a:picLocks noChangeAspect="1"/>
          </p:cNvPicPr>
          <p:nvPr/>
        </p:nvPicPr>
        <p:blipFill>
          <a:blip r:embed="rId2"/>
          <a:stretch>
            <a:fillRect/>
          </a:stretch>
        </p:blipFill>
        <p:spPr>
          <a:xfrm>
            <a:off x="1440000" y="1440000"/>
            <a:ext cx="5689600" cy="2503429"/>
          </a:xfrm>
          <a:prstGeom prst="rect">
            <a:avLst/>
          </a:prstGeom>
        </p:spPr>
      </p:pic>
      <p:sp>
        <p:nvSpPr>
          <p:cNvPr id="4" name="TextBox 3">
            <a:extLst>
              <a:ext uri="{FF2B5EF4-FFF2-40B4-BE49-F238E27FC236}">
                <a16:creationId xmlns:a16="http://schemas.microsoft.com/office/drawing/2014/main" id="{C76E0751-2C8B-579A-D15D-B8619F01E597}"/>
              </a:ext>
            </a:extLst>
          </p:cNvPr>
          <p:cNvSpPr txBox="1"/>
          <p:nvPr/>
        </p:nvSpPr>
        <p:spPr>
          <a:xfrm>
            <a:off x="4379914" y="5318127"/>
            <a:ext cx="11304586" cy="4247958"/>
          </a:xfrm>
          <a:prstGeom prst="rect">
            <a:avLst/>
          </a:prstGeom>
          <a:noFill/>
        </p:spPr>
        <p:txBody>
          <a:bodyPr wrap="square" lIns="0" tIns="0" rIns="0" bIns="0" rtlCol="0" anchor="t">
            <a:spAutoFit/>
          </a:bodyPr>
          <a:lstStyle/>
          <a:p>
            <a:pPr algn="l"/>
            <a:r>
              <a:rPr lang="ru-RU" sz="13802" dirty="0">
                <a:solidFill>
                  <a:schemeClr val="bg1"/>
                </a:solidFill>
                <a:latin typeface="Arial" panose="020B0604020202020204" pitchFamily="34" charset="0"/>
                <a:cs typeface="Arial" panose="020B0604020202020204" pitchFamily="34" charset="0"/>
              </a:rPr>
              <a:t>Спасибо за </a:t>
            </a:r>
          </a:p>
          <a:p>
            <a:pPr algn="l"/>
            <a:r>
              <a:rPr lang="ru-RU" sz="13802" dirty="0">
                <a:solidFill>
                  <a:schemeClr val="bg1"/>
                </a:solidFill>
                <a:latin typeface="Arial" panose="020B0604020202020204" pitchFamily="34" charset="0"/>
                <a:cs typeface="Arial" panose="020B0604020202020204" pitchFamily="34" charset="0"/>
              </a:rPr>
              <a:t>внимание!</a:t>
            </a:r>
            <a:endParaRPr lang="ru-RU" sz="11500" dirty="0">
              <a:solidFill>
                <a:schemeClr val="bg1"/>
              </a:solidFill>
              <a:latin typeface="Arial" panose="020B0604020202020204" pitchFamily="34" charset="0"/>
              <a:cs typeface="Arial" panose="020B0604020202020204" pitchFamily="34" charset="0"/>
            </a:endParaRPr>
          </a:p>
        </p:txBody>
      </p:sp>
      <p:pic>
        <p:nvPicPr>
          <p:cNvPr id="457" name="Рисунок 456">
            <a:extLst>
              <a:ext uri="{FF2B5EF4-FFF2-40B4-BE49-F238E27FC236}">
                <a16:creationId xmlns:a16="http://schemas.microsoft.com/office/drawing/2014/main" id="{4AD467F6-C2E6-9A59-7107-07A50951CF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264669" y="1"/>
            <a:ext cx="10659962" cy="13715999"/>
          </a:xfrm>
          <a:prstGeom prst="rect">
            <a:avLst/>
          </a:prstGeom>
        </p:spPr>
      </p:pic>
    </p:spTree>
    <p:extLst>
      <p:ext uri="{BB962C8B-B14F-4D97-AF65-F5344CB8AC3E}">
        <p14:creationId xmlns:p14="http://schemas.microsoft.com/office/powerpoint/2010/main" val="2730587182"/>
      </p:ext>
    </p:extLst>
  </p:cSld>
  <p:clrMapOvr>
    <a:masterClrMapping/>
  </p:clrMapOvr>
  <p:transition spd="med"/>
</p:sld>
</file>

<file path=ppt/theme/theme1.xml><?xml version="1.0" encoding="utf-8"?>
<a:theme xmlns:a="http://schemas.openxmlformats.org/drawingml/2006/main" name="White">
  <a:themeElements>
    <a:clrScheme name="Другая 2">
      <a:dk1>
        <a:srgbClr val="232422"/>
      </a:dk1>
      <a:lt1>
        <a:srgbClr val="FFFFFF"/>
      </a:lt1>
      <a:dk2>
        <a:srgbClr val="7E8089"/>
      </a:dk2>
      <a:lt2>
        <a:srgbClr val="EFF0EF"/>
      </a:lt2>
      <a:accent1>
        <a:srgbClr val="C81240"/>
      </a:accent1>
      <a:accent2>
        <a:srgbClr val="A00F33"/>
      </a:accent2>
      <a:accent3>
        <a:srgbClr val="D3E0E4"/>
      </a:accent3>
      <a:accent4>
        <a:srgbClr val="29345B"/>
      </a:accent4>
      <a:accent5>
        <a:srgbClr val="171F29"/>
      </a:accent5>
      <a:accent6>
        <a:srgbClr val="B3B6BA"/>
      </a:accent6>
      <a:hlink>
        <a:srgbClr val="7E8089"/>
      </a:hlink>
      <a:folHlink>
        <a:srgbClr val="93969C"/>
      </a:folHlink>
    </a:clrScheme>
    <a:fontScheme name="Academy">
      <a:majorFont>
        <a:latin typeface="Montserrat SemiBold"/>
        <a:ea typeface="Helvetica Neue Medium"/>
        <a:cs typeface="Helvetica Neue Medium"/>
      </a:majorFont>
      <a:minorFont>
        <a:latin typeface="Montserrat"/>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12887</TotalTime>
  <Words>1575</Words>
  <Application>Microsoft Office PowerPoint</Application>
  <PresentationFormat>Произвольный</PresentationFormat>
  <Paragraphs>212</Paragraphs>
  <Slides>18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18</vt:i4>
      </vt:variant>
    </vt:vector>
  </HeadingPairs>
  <TitlesOfParts>
    <vt:vector size="24" baseType="lpstr">
      <vt:lpstr>Arial</vt:lpstr>
      <vt:lpstr>Arial Black</vt:lpstr>
      <vt:lpstr>Calibri</vt:lpstr>
      <vt:lpstr>Helvetica Neue</vt:lpstr>
      <vt:lpstr>Times New Roman</vt:lpstr>
      <vt:lpstr>White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Яшина Евгения Леонидовна;Фрайштетер Полина Алексеевна</dc:creator>
  <cp:lastModifiedBy>k39551</cp:lastModifiedBy>
  <cp:revision>505</cp:revision>
  <cp:lastPrinted>2024-05-06T13:42:22Z</cp:lastPrinted>
  <dcterms:modified xsi:type="dcterms:W3CDTF">2026-02-25T19:53:08Z</dcterms:modified>
</cp:coreProperties>
</file>